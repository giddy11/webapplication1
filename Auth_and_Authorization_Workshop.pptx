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60" r:id="rId10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2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2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9" name="Google Shape;5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6" name="Google Shape;66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C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4"/>
          <p:cNvGrpSpPr/>
          <p:nvPr/>
        </p:nvGrpSpPr>
        <p:grpSpPr>
          <a:xfrm>
            <a:off x="122542" y="0"/>
            <a:ext cx="19697208" cy="10287000"/>
            <a:chOff x="0" y="0"/>
            <a:chExt cx="26262944" cy="13716000"/>
          </a:xfrm>
        </p:grpSpPr>
        <p:sp>
          <p:nvSpPr>
            <p:cNvPr id="86" name="Google Shape;86;p14"/>
            <p:cNvSpPr/>
            <p:nvPr/>
          </p:nvSpPr>
          <p:spPr>
            <a:xfrm>
              <a:off x="0" y="0"/>
              <a:ext cx="13716000" cy="13716000"/>
            </a:xfrm>
            <a:custGeom>
              <a:rect b="b" l="l" r="r" t="t"/>
              <a:pathLst>
                <a:path extrusionOk="0"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12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87" name="Google Shape;87;p14"/>
            <p:cNvSpPr/>
            <p:nvPr/>
          </p:nvSpPr>
          <p:spPr>
            <a:xfrm>
              <a:off x="12546944" y="0"/>
              <a:ext cx="13716000" cy="13716000"/>
            </a:xfrm>
            <a:custGeom>
              <a:rect b="b" l="l" r="r" t="t"/>
              <a:pathLst>
                <a:path extrusionOk="0"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12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</p:grpSp>
      <p:sp>
        <p:nvSpPr>
          <p:cNvPr id="88" name="Google Shape;88;p14"/>
          <p:cNvSpPr/>
          <p:nvPr/>
        </p:nvSpPr>
        <p:spPr>
          <a:xfrm flipH="1">
            <a:off x="13463692" y="-2002595"/>
            <a:ext cx="5235508" cy="4816668"/>
          </a:xfrm>
          <a:custGeom>
            <a:rect b="b" l="l" r="r" t="t"/>
            <a:pathLst>
              <a:path extrusionOk="0" h="4816668" w="5235508">
                <a:moveTo>
                  <a:pt x="5235508" y="0"/>
                </a:moveTo>
                <a:lnTo>
                  <a:pt x="0" y="0"/>
                </a:lnTo>
                <a:lnTo>
                  <a:pt x="0" y="4816667"/>
                </a:lnTo>
                <a:lnTo>
                  <a:pt x="5235508" y="4816667"/>
                </a:lnTo>
                <a:lnTo>
                  <a:pt x="5235508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89" name="Google Shape;89;p14"/>
          <p:cNvSpPr/>
          <p:nvPr/>
        </p:nvSpPr>
        <p:spPr>
          <a:xfrm flipH="1" rot="10800000">
            <a:off x="-1053199" y="7048291"/>
            <a:ext cx="4804367" cy="4420017"/>
          </a:xfrm>
          <a:custGeom>
            <a:rect b="b" l="l" r="r" t="t"/>
            <a:pathLst>
              <a:path extrusionOk="0" h="4420017" w="4804367">
                <a:moveTo>
                  <a:pt x="0" y="4420018"/>
                </a:moveTo>
                <a:lnTo>
                  <a:pt x="4804367" y="4420018"/>
                </a:lnTo>
                <a:lnTo>
                  <a:pt x="4804367" y="0"/>
                </a:lnTo>
                <a:lnTo>
                  <a:pt x="0" y="0"/>
                </a:lnTo>
                <a:lnTo>
                  <a:pt x="0" y="4420018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90" name="Google Shape;90;p14"/>
          <p:cNvSpPr/>
          <p:nvPr/>
        </p:nvSpPr>
        <p:spPr>
          <a:xfrm flipH="1">
            <a:off x="1831869" y="749244"/>
            <a:ext cx="3838597" cy="475026"/>
          </a:xfrm>
          <a:custGeom>
            <a:rect b="b" l="l" r="r" t="t"/>
            <a:pathLst>
              <a:path extrusionOk="0" h="475026" w="3838597">
                <a:moveTo>
                  <a:pt x="3838597" y="0"/>
                </a:moveTo>
                <a:lnTo>
                  <a:pt x="0" y="0"/>
                </a:lnTo>
                <a:lnTo>
                  <a:pt x="0" y="475026"/>
                </a:lnTo>
                <a:lnTo>
                  <a:pt x="3838597" y="475026"/>
                </a:lnTo>
                <a:lnTo>
                  <a:pt x="3838597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91" name="Google Shape;91;p14"/>
          <p:cNvSpPr/>
          <p:nvPr/>
        </p:nvSpPr>
        <p:spPr>
          <a:xfrm>
            <a:off x="523496" y="161269"/>
            <a:ext cx="1650977" cy="1650977"/>
          </a:xfrm>
          <a:custGeom>
            <a:rect b="b" l="l" r="r" t="t"/>
            <a:pathLst>
              <a:path extrusionOk="0" h="1650977" w="1650977">
                <a:moveTo>
                  <a:pt x="0" y="0"/>
                </a:moveTo>
                <a:lnTo>
                  <a:pt x="1650977" y="0"/>
                </a:lnTo>
                <a:lnTo>
                  <a:pt x="1650977" y="1650977"/>
                </a:lnTo>
                <a:lnTo>
                  <a:pt x="0" y="16509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grpSp>
        <p:nvGrpSpPr>
          <p:cNvPr id="92" name="Google Shape;92;p14"/>
          <p:cNvGrpSpPr/>
          <p:nvPr/>
        </p:nvGrpSpPr>
        <p:grpSpPr>
          <a:xfrm>
            <a:off x="5527975" y="3136999"/>
            <a:ext cx="8915683" cy="4832433"/>
            <a:chOff x="0" y="-47625"/>
            <a:chExt cx="10281000" cy="4450574"/>
          </a:xfrm>
        </p:grpSpPr>
        <p:sp>
          <p:nvSpPr>
            <p:cNvPr id="93" name="Google Shape;93;p14"/>
            <p:cNvSpPr txBox="1"/>
            <p:nvPr/>
          </p:nvSpPr>
          <p:spPr>
            <a:xfrm>
              <a:off x="3617090" y="-47625"/>
              <a:ext cx="2408700" cy="2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9"/>
                <a:buFont typeface="Arial"/>
                <a:buNone/>
              </a:pPr>
              <a:r>
                <a:rPr b="1" i="0" lang="en-US" sz="1949" u="none" cap="none" strike="noStrike">
                  <a:solidFill>
                    <a:srgbClr val="231F20"/>
                  </a:solidFill>
                  <a:latin typeface="Arial"/>
                  <a:ea typeface="Arial"/>
                  <a:cs typeface="Arial"/>
                  <a:sym typeface="Arial"/>
                </a:rPr>
                <a:t>SECURITY BASICS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4"/>
            <p:cNvSpPr txBox="1"/>
            <p:nvPr/>
          </p:nvSpPr>
          <p:spPr>
            <a:xfrm>
              <a:off x="0" y="716006"/>
              <a:ext cx="10281000" cy="51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1" i="0" lang="en-US" sz="3600" u="none" cap="none" strike="noStrike">
                  <a:solidFill>
                    <a:srgbClr val="231F20"/>
                  </a:solidFill>
                  <a:latin typeface="Arial"/>
                  <a:ea typeface="Arial"/>
                  <a:cs typeface="Arial"/>
                  <a:sym typeface="Arial"/>
                </a:rPr>
                <a:t>Authentication &amp; Authorization</a:t>
              </a:r>
              <a:endPara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4"/>
            <p:cNvSpPr txBox="1"/>
            <p:nvPr/>
          </p:nvSpPr>
          <p:spPr>
            <a:xfrm>
              <a:off x="3010839" y="4147649"/>
              <a:ext cx="3915600" cy="25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231F20"/>
                  </a:solidFill>
                  <a:latin typeface="Arial"/>
                  <a:ea typeface="Arial"/>
                  <a:cs typeface="Arial"/>
                  <a:sym typeface="Arial"/>
                </a:rPr>
                <a:t>Gideon Edoghotu – .NET Trainer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/>
          <p:nvPr/>
        </p:nvSpPr>
        <p:spPr>
          <a:xfrm>
            <a:off x="0" y="0"/>
            <a:ext cx="640200" cy="10287000"/>
          </a:xfrm>
          <a:prstGeom prst="rect">
            <a:avLst/>
          </a:prstGeom>
          <a:solidFill>
            <a:srgbClr val="00C8B4"/>
          </a:solidFill>
          <a:ln cap="flat" cmpd="sng" w="25400">
            <a:solidFill>
              <a:srgbClr val="00C8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13716000" y="5852160"/>
            <a:ext cx="5486400" cy="5486400"/>
          </a:xfrm>
          <a:prstGeom prst="ellipse">
            <a:avLst/>
          </a:prstGeom>
          <a:solidFill>
            <a:srgbClr val="1F3A6E">
              <a:alpha val="50196"/>
            </a:srgbClr>
          </a:solidFill>
          <a:ln cap="flat" cmpd="sng" w="25400">
            <a:solidFill>
              <a:srgbClr val="1F3A6E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1280160" y="2743200"/>
            <a:ext cx="146304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Calibri"/>
              <a:buNone/>
            </a:pPr>
            <a:r>
              <a:rPr b="1" i="0" lang="en-US" sz="9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You've Got the Keys!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1280160" y="5303520"/>
            <a:ext cx="2743200" cy="127800"/>
          </a:xfrm>
          <a:prstGeom prst="rect">
            <a:avLst/>
          </a:prstGeom>
          <a:solidFill>
            <a:srgbClr val="00C8B4"/>
          </a:solidFill>
          <a:ln cap="flat" cmpd="sng" w="25400">
            <a:solidFill>
              <a:srgbClr val="00C8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1280160" y="5669280"/>
            <a:ext cx="13716000" cy="12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E8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A8C4E8"/>
                </a:solidFill>
                <a:latin typeface="Calibri"/>
                <a:ea typeface="Calibri"/>
                <a:cs typeface="Calibri"/>
                <a:sym typeface="Calibri"/>
              </a:rPr>
              <a:t>Authentication proves who you are. Authorization decides what you can do.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1280160" y="9509760"/>
            <a:ext cx="146304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8BAE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6B8BAE"/>
                </a:solidFill>
                <a:latin typeface="Calibri"/>
                <a:ea typeface="Calibri"/>
                <a:cs typeface="Calibri"/>
                <a:sym typeface="Calibri"/>
              </a:rPr>
              <a:t>Next: implementing this in ASP.NET Core — hands-on.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/>
      <p:sp>
        <p:nvSpPr>
          <p:cNvPr id="100" name="Google Shape;100;p15"/>
          <p:cNvSpPr/>
          <p:nvPr/>
        </p:nvSpPr>
        <p:spPr>
          <a:xfrm flipH="1">
            <a:off x="15555324" y="-3181515"/>
            <a:ext cx="5235508" cy="4816668"/>
          </a:xfrm>
          <a:custGeom>
            <a:rect b="b" l="l" r="r" t="t"/>
            <a:pathLst>
              <a:path extrusionOk="0" h="4816668" w="5235508">
                <a:moveTo>
                  <a:pt x="5235508" y="0"/>
                </a:moveTo>
                <a:lnTo>
                  <a:pt x="0" y="0"/>
                </a:lnTo>
                <a:lnTo>
                  <a:pt x="0" y="4816668"/>
                </a:lnTo>
                <a:lnTo>
                  <a:pt x="5235508" y="4816668"/>
                </a:lnTo>
                <a:lnTo>
                  <a:pt x="5235508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5"/>
          <p:cNvSpPr/>
          <p:nvPr/>
        </p:nvSpPr>
        <p:spPr>
          <a:xfrm flipH="1" rot="10800000">
            <a:off x="-2629894" y="8208196"/>
            <a:ext cx="4804367" cy="4420017"/>
          </a:xfrm>
          <a:custGeom>
            <a:rect b="b" l="l" r="r" t="t"/>
            <a:pathLst>
              <a:path extrusionOk="0" h="4420017" w="4804367">
                <a:moveTo>
                  <a:pt x="0" y="4420017"/>
                </a:moveTo>
                <a:lnTo>
                  <a:pt x="4804367" y="4420017"/>
                </a:lnTo>
                <a:lnTo>
                  <a:pt x="4804367" y="0"/>
                </a:lnTo>
                <a:lnTo>
                  <a:pt x="0" y="0"/>
                </a:lnTo>
                <a:lnTo>
                  <a:pt x="0" y="4420017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15"/>
          <p:cNvSpPr/>
          <p:nvPr/>
        </p:nvSpPr>
        <p:spPr>
          <a:xfrm flipH="1">
            <a:off x="1831869" y="977232"/>
            <a:ext cx="3838597" cy="475026"/>
          </a:xfrm>
          <a:custGeom>
            <a:rect b="b" l="l" r="r" t="t"/>
            <a:pathLst>
              <a:path extrusionOk="0" h="475026" w="3838597">
                <a:moveTo>
                  <a:pt x="3838597" y="0"/>
                </a:moveTo>
                <a:lnTo>
                  <a:pt x="0" y="0"/>
                </a:lnTo>
                <a:lnTo>
                  <a:pt x="0" y="475027"/>
                </a:lnTo>
                <a:lnTo>
                  <a:pt x="3838597" y="475027"/>
                </a:lnTo>
                <a:lnTo>
                  <a:pt x="3838597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15"/>
          <p:cNvSpPr/>
          <p:nvPr/>
        </p:nvSpPr>
        <p:spPr>
          <a:xfrm>
            <a:off x="523496" y="161269"/>
            <a:ext cx="1650977" cy="1650977"/>
          </a:xfrm>
          <a:custGeom>
            <a:rect b="b" l="l" r="r" t="t"/>
            <a:pathLst>
              <a:path extrusionOk="0" h="1650977" w="1650977">
                <a:moveTo>
                  <a:pt x="0" y="0"/>
                </a:moveTo>
                <a:lnTo>
                  <a:pt x="1650977" y="0"/>
                </a:lnTo>
                <a:lnTo>
                  <a:pt x="1650977" y="1650977"/>
                </a:lnTo>
                <a:lnTo>
                  <a:pt x="0" y="16509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4" name="Google Shape;104;p15"/>
          <p:cNvCxnSpPr/>
          <p:nvPr/>
        </p:nvCxnSpPr>
        <p:spPr>
          <a:xfrm flipH="1" rot="10800000">
            <a:off x="221475" y="2940071"/>
            <a:ext cx="38100" cy="4571700"/>
          </a:xfrm>
          <a:prstGeom prst="straightConnector1">
            <a:avLst/>
          </a:prstGeom>
          <a:noFill/>
          <a:ln cap="flat" cmpd="sng" w="38100">
            <a:solidFill>
              <a:srgbClr val="0097B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5" name="Google Shape;105;p15"/>
          <p:cNvCxnSpPr/>
          <p:nvPr/>
        </p:nvCxnSpPr>
        <p:spPr>
          <a:xfrm flipH="1" rot="10800000">
            <a:off x="17998751" y="2940096"/>
            <a:ext cx="38100" cy="4571700"/>
          </a:xfrm>
          <a:prstGeom prst="straightConnector1">
            <a:avLst/>
          </a:prstGeom>
          <a:noFill/>
          <a:ln cap="flat" cmpd="sng" w="38100">
            <a:solidFill>
              <a:srgbClr val="0097B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06" name="TextBox 105"/>
          <p:cNvSpPr txBox="1"/>
          <p:nvPr/>
        </p:nvSpPr>
        <p:spPr>
          <a:xfrm>
            <a:off x="914400" y="1371599"/>
            <a:ext cx="1645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97B2"/>
                </a:solidFill>
                <a:latin typeface="Arial"/>
              </a:rPr>
              <a:t>MODULE 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4400" y="1874519"/>
            <a:ext cx="1645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700" b="1" i="0">
                <a:solidFill>
                  <a:srgbClr val="231F20"/>
                </a:solidFill>
                <a:latin typeface="Arial"/>
              </a:rPr>
              <a:t>Welcome — Locking the Right Doors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14400" y="3154680"/>
            <a:ext cx="8046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0" i="0">
                <a:solidFill>
                  <a:srgbClr val="231F20"/>
                </a:solidFill>
                <a:latin typeface="Arial"/>
              </a:rPr>
              <a:t>Every real app you'll ever build has to answer two questions about the people using it: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14400" y="4160520"/>
            <a:ext cx="8046720" cy="1188720"/>
          </a:xfrm>
          <a:prstGeom prst="roundRect">
            <a:avLst>
              <a:gd name="adj" fmla="val 12000"/>
            </a:avLst>
          </a:prstGeom>
          <a:solidFill>
            <a:srgbClr val="0097B2"/>
          </a:solidFill>
          <a:ln w="22225">
            <a:solidFill>
              <a:srgbClr val="009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“Who are you?”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914400" y="5623560"/>
            <a:ext cx="8046720" cy="118872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 w="2222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“What are you allowed to do?”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509760" y="315468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97B2"/>
                </a:solidFill>
                <a:latin typeface="Arial"/>
              </a:rPr>
              <a:t>By the end of today you'll be able to: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509760" y="3794760"/>
            <a:ext cx="69494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5000"/>
              </a:lnSpc>
              <a:spcAft>
                <a:spcPts val="1300"/>
              </a:spcAft>
              <a:buClr>
                <a:srgbClr val="0097B2"/>
              </a:buClr>
              <a:buSzPct val="90000"/>
              <a:buFont typeface="Arial"/>
              <a:buChar char="●"/>
            </a:pPr>
            <a:r>
              <a:rPr sz="1700">
                <a:solidFill>
                  <a:srgbClr val="231F20"/>
                </a:solidFill>
                <a:latin typeface="Arial"/>
              </a:rPr>
              <a:t>Explain security to a non-technical person</a:t>
            </a:r>
          </a:p>
          <a:p>
            <a:pPr marL="256032" indent="-256032">
              <a:lnSpc>
                <a:spcPct val="115000"/>
              </a:lnSpc>
              <a:spcAft>
                <a:spcPts val="1300"/>
              </a:spcAft>
              <a:buClr>
                <a:srgbClr val="0097B2"/>
              </a:buClr>
              <a:buSzPct val="90000"/>
              <a:buFont typeface="Arial"/>
              <a:buChar char="●"/>
            </a:pPr>
            <a:r>
              <a:rPr sz="1700">
                <a:solidFill>
                  <a:srgbClr val="231F20"/>
                </a:solidFill>
                <a:latin typeface="Arial"/>
              </a:rPr>
              <a:t>Tell authentication and authorization apart with confidence</a:t>
            </a:r>
          </a:p>
          <a:p>
            <a:pPr marL="256032" indent="-256032">
              <a:lnSpc>
                <a:spcPct val="115000"/>
              </a:lnSpc>
              <a:spcAft>
                <a:spcPts val="1300"/>
              </a:spcAft>
              <a:buClr>
                <a:srgbClr val="0097B2"/>
              </a:buClr>
              <a:buSzPct val="90000"/>
              <a:buFont typeface="Arial"/>
              <a:buChar char="●"/>
            </a:pPr>
            <a:r>
              <a:rPr sz="1700">
                <a:solidFill>
                  <a:srgbClr val="231F20"/>
                </a:solidFill>
                <a:latin typeface="Arial"/>
              </a:rPr>
              <a:t>Describe users, roles and permissions</a:t>
            </a:r>
          </a:p>
          <a:p>
            <a:pPr marL="256032" indent="-256032">
              <a:lnSpc>
                <a:spcPct val="115000"/>
              </a:lnSpc>
              <a:spcAft>
                <a:spcPts val="1300"/>
              </a:spcAft>
              <a:buClr>
                <a:srgbClr val="0097B2"/>
              </a:buClr>
              <a:buSzPct val="90000"/>
              <a:buFont typeface="Arial"/>
              <a:buChar char="●"/>
            </a:pPr>
            <a:r>
              <a:rPr sz="1700">
                <a:solidFill>
                  <a:srgbClr val="231F20"/>
                </a:solidFill>
                <a:latin typeface="Arial"/>
              </a:rPr>
              <a:t>Read and draw a login and a permission-check flow</a:t>
            </a:r>
          </a:p>
          <a:p>
            <a:pPr marL="256032" indent="-256032">
              <a:lnSpc>
                <a:spcPct val="115000"/>
              </a:lnSpc>
              <a:spcAft>
                <a:spcPts val="1300"/>
              </a:spcAft>
              <a:buClr>
                <a:srgbClr val="0097B2"/>
              </a:buClr>
              <a:buSzPct val="90000"/>
              <a:buFont typeface="Arial"/>
              <a:buChar char="●"/>
            </a:pPr>
            <a:r>
              <a:rPr sz="1700">
                <a:solidFill>
                  <a:srgbClr val="231F20"/>
                </a:solidFill>
                <a:latin typeface="Arial"/>
              </a:rPr>
              <a:t>Spot common security mistakes before they bite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914400" y="8183879"/>
            <a:ext cx="16459200" cy="685800"/>
          </a:xfrm>
          <a:prstGeom prst="roundRect">
            <a:avLst>
              <a:gd name="adj" fmla="val 25000"/>
            </a:avLst>
          </a:prstGeom>
          <a:solidFill>
            <a:srgbClr val="F0F6F8"/>
          </a:solidFill>
          <a:ln w="12700">
            <a:solidFill>
              <a:srgbClr val="D6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280160" y="8202167"/>
            <a:ext cx="15727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0097B2"/>
                </a:solidFill>
                <a:latin typeface="Arial"/>
              </a:rPr>
              <a:t>Learning objective:  </a:t>
            </a:r>
            <a:r>
              <a:rPr sz="1400" b="0" i="0">
                <a:solidFill>
                  <a:srgbClr val="5B6670"/>
                </a:solidFill>
                <a:latin typeface="Arial"/>
              </a:rPr>
              <a:t>Understand what this session covers and why it matters.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/>
      <p:sp>
        <p:nvSpPr>
          <p:cNvPr id="100" name="Google Shape;100;p15"/>
          <p:cNvSpPr/>
          <p:nvPr/>
        </p:nvSpPr>
        <p:spPr>
          <a:xfrm flipH="1">
            <a:off x="15555324" y="-3181515"/>
            <a:ext cx="5235508" cy="4816668"/>
          </a:xfrm>
          <a:custGeom>
            <a:rect b="b" l="l" r="r" t="t"/>
            <a:pathLst>
              <a:path extrusionOk="0" h="4816668" w="5235508">
                <a:moveTo>
                  <a:pt x="5235508" y="0"/>
                </a:moveTo>
                <a:lnTo>
                  <a:pt x="0" y="0"/>
                </a:lnTo>
                <a:lnTo>
                  <a:pt x="0" y="4816668"/>
                </a:lnTo>
                <a:lnTo>
                  <a:pt x="5235508" y="4816668"/>
                </a:lnTo>
                <a:lnTo>
                  <a:pt x="5235508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5"/>
          <p:cNvSpPr/>
          <p:nvPr/>
        </p:nvSpPr>
        <p:spPr>
          <a:xfrm flipH="1" rot="10800000">
            <a:off x="-2629894" y="8208196"/>
            <a:ext cx="4804367" cy="4420017"/>
          </a:xfrm>
          <a:custGeom>
            <a:rect b="b" l="l" r="r" t="t"/>
            <a:pathLst>
              <a:path extrusionOk="0" h="4420017" w="4804367">
                <a:moveTo>
                  <a:pt x="0" y="4420017"/>
                </a:moveTo>
                <a:lnTo>
                  <a:pt x="4804367" y="4420017"/>
                </a:lnTo>
                <a:lnTo>
                  <a:pt x="4804367" y="0"/>
                </a:lnTo>
                <a:lnTo>
                  <a:pt x="0" y="0"/>
                </a:lnTo>
                <a:lnTo>
                  <a:pt x="0" y="4420017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15"/>
          <p:cNvSpPr/>
          <p:nvPr/>
        </p:nvSpPr>
        <p:spPr>
          <a:xfrm flipH="1">
            <a:off x="1831869" y="977232"/>
            <a:ext cx="3838597" cy="475026"/>
          </a:xfrm>
          <a:custGeom>
            <a:rect b="b" l="l" r="r" t="t"/>
            <a:pathLst>
              <a:path extrusionOk="0" h="475026" w="3838597">
                <a:moveTo>
                  <a:pt x="3838597" y="0"/>
                </a:moveTo>
                <a:lnTo>
                  <a:pt x="0" y="0"/>
                </a:lnTo>
                <a:lnTo>
                  <a:pt x="0" y="475027"/>
                </a:lnTo>
                <a:lnTo>
                  <a:pt x="3838597" y="475027"/>
                </a:lnTo>
                <a:lnTo>
                  <a:pt x="3838597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15"/>
          <p:cNvSpPr/>
          <p:nvPr/>
        </p:nvSpPr>
        <p:spPr>
          <a:xfrm>
            <a:off x="523496" y="161269"/>
            <a:ext cx="1650977" cy="1650977"/>
          </a:xfrm>
          <a:custGeom>
            <a:rect b="b" l="l" r="r" t="t"/>
            <a:pathLst>
              <a:path extrusionOk="0" h="1650977" w="1650977">
                <a:moveTo>
                  <a:pt x="0" y="0"/>
                </a:moveTo>
                <a:lnTo>
                  <a:pt x="1650977" y="0"/>
                </a:lnTo>
                <a:lnTo>
                  <a:pt x="1650977" y="1650977"/>
                </a:lnTo>
                <a:lnTo>
                  <a:pt x="0" y="16509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4" name="Google Shape;104;p15"/>
          <p:cNvCxnSpPr/>
          <p:nvPr/>
        </p:nvCxnSpPr>
        <p:spPr>
          <a:xfrm flipH="1" rot="10800000">
            <a:off x="221475" y="2940071"/>
            <a:ext cx="38100" cy="4571700"/>
          </a:xfrm>
          <a:prstGeom prst="straightConnector1">
            <a:avLst/>
          </a:prstGeom>
          <a:noFill/>
          <a:ln cap="flat" cmpd="sng" w="38100">
            <a:solidFill>
              <a:srgbClr val="0097B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5" name="Google Shape;105;p15"/>
          <p:cNvCxnSpPr/>
          <p:nvPr/>
        </p:nvCxnSpPr>
        <p:spPr>
          <a:xfrm flipH="1" rot="10800000">
            <a:off x="17998751" y="2940096"/>
            <a:ext cx="38100" cy="4571700"/>
          </a:xfrm>
          <a:prstGeom prst="straightConnector1">
            <a:avLst/>
          </a:prstGeom>
          <a:noFill/>
          <a:ln cap="flat" cmpd="sng" w="38100">
            <a:solidFill>
              <a:srgbClr val="0097B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06" name="TextBox 105"/>
          <p:cNvSpPr txBox="1"/>
          <p:nvPr/>
        </p:nvSpPr>
        <p:spPr>
          <a:xfrm>
            <a:off x="914400" y="1371599"/>
            <a:ext cx="1645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97B2"/>
                </a:solidFill>
                <a:latin typeface="Arial"/>
              </a:rPr>
              <a:t>MODULE 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4400" y="1874519"/>
            <a:ext cx="1645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700" b="1" i="0">
                <a:solidFill>
                  <a:srgbClr val="231F20"/>
                </a:solidFill>
                <a:latin typeface="Arial"/>
              </a:rPr>
              <a:t>Imagine a World Without Security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14400" y="3154680"/>
            <a:ext cx="1645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0" i="1">
                <a:solidFill>
                  <a:srgbClr val="231F20"/>
                </a:solidFill>
                <a:latin typeface="Arial"/>
              </a:rPr>
              <a:t>Picture this: every lock in the world suddenly disappears. What happens?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14400" y="3977640"/>
            <a:ext cx="37947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097280" y="4160520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$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874519" y="4178808"/>
            <a:ext cx="2651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231F20"/>
                </a:solidFill>
                <a:latin typeface="Arial"/>
              </a:rPr>
              <a:t>Your bank account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188720" y="4846320"/>
            <a:ext cx="3246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5B6670"/>
                </a:solidFill>
                <a:latin typeface="Arial"/>
              </a:rPr>
              <a:t>Anyone could log in and move your money.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5135880" y="3977640"/>
            <a:ext cx="37947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318760" y="4160520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095999" y="4178808"/>
            <a:ext cx="2651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231F20"/>
                </a:solidFill>
                <a:latin typeface="Arial"/>
              </a:rPr>
              <a:t>Your school grades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410199" y="4846320"/>
            <a:ext cx="3246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5B6670"/>
                </a:solidFill>
                <a:latin typeface="Arial"/>
              </a:rPr>
              <a:t>Any student could quietly change their own scores.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9357360" y="3977640"/>
            <a:ext cx="37947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540240" y="4160520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+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317480" y="4178808"/>
            <a:ext cx="2651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231F20"/>
                </a:solidFill>
                <a:latin typeface="Arial"/>
              </a:rPr>
              <a:t>Hospital records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631680" y="4846320"/>
            <a:ext cx="3246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5B6670"/>
                </a:solidFill>
                <a:latin typeface="Arial"/>
              </a:rPr>
              <a:t>A stranger could read — or edit — your medical history.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13578839" y="3977640"/>
            <a:ext cx="37947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3761719" y="4160520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4538959" y="4178808"/>
            <a:ext cx="2651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231F20"/>
                </a:solidFill>
                <a:latin typeface="Arial"/>
              </a:rPr>
              <a:t>Church members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3853159" y="4846320"/>
            <a:ext cx="3246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5B6670"/>
                </a:solidFill>
                <a:latin typeface="Arial"/>
              </a:rPr>
              <a:t>Anybody could delete the entire membership list.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14400" y="6720840"/>
            <a:ext cx="1645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1B2A4A"/>
                </a:solidFill>
                <a:latin typeface="Arial"/>
              </a:rPr>
              <a:t>Security exists so the right people — and only the right people — can reach the right things.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914400" y="8183879"/>
            <a:ext cx="16459200" cy="685800"/>
          </a:xfrm>
          <a:prstGeom prst="roundRect">
            <a:avLst>
              <a:gd name="adj" fmla="val 25000"/>
            </a:avLst>
          </a:prstGeom>
          <a:solidFill>
            <a:srgbClr val="F0F6F8"/>
          </a:solidFill>
          <a:ln w="12700">
            <a:solidFill>
              <a:srgbClr val="D6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280160" y="8202167"/>
            <a:ext cx="15727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0097B2"/>
                </a:solidFill>
                <a:latin typeface="Arial"/>
              </a:rPr>
              <a:t>Learning objective:  </a:t>
            </a:r>
            <a:r>
              <a:rPr sz="1400" b="0" i="0">
                <a:solidFill>
                  <a:srgbClr val="5B6670"/>
                </a:solidFill>
                <a:latin typeface="Arial"/>
              </a:rPr>
              <a:t>Feel why security is not optional — it protects real people.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/>
      <p:sp>
        <p:nvSpPr>
          <p:cNvPr id="100" name="Google Shape;100;p15"/>
          <p:cNvSpPr/>
          <p:nvPr/>
        </p:nvSpPr>
        <p:spPr>
          <a:xfrm flipH="1">
            <a:off x="15555324" y="-3181515"/>
            <a:ext cx="5235508" cy="4816668"/>
          </a:xfrm>
          <a:custGeom>
            <a:rect b="b" l="l" r="r" t="t"/>
            <a:pathLst>
              <a:path extrusionOk="0" h="4816668" w="5235508">
                <a:moveTo>
                  <a:pt x="5235508" y="0"/>
                </a:moveTo>
                <a:lnTo>
                  <a:pt x="0" y="0"/>
                </a:lnTo>
                <a:lnTo>
                  <a:pt x="0" y="4816668"/>
                </a:lnTo>
                <a:lnTo>
                  <a:pt x="5235508" y="4816668"/>
                </a:lnTo>
                <a:lnTo>
                  <a:pt x="5235508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5"/>
          <p:cNvSpPr/>
          <p:nvPr/>
        </p:nvSpPr>
        <p:spPr>
          <a:xfrm flipH="1" rot="10800000">
            <a:off x="-2629894" y="8208196"/>
            <a:ext cx="4804367" cy="4420017"/>
          </a:xfrm>
          <a:custGeom>
            <a:rect b="b" l="l" r="r" t="t"/>
            <a:pathLst>
              <a:path extrusionOk="0" h="4420017" w="4804367">
                <a:moveTo>
                  <a:pt x="0" y="4420017"/>
                </a:moveTo>
                <a:lnTo>
                  <a:pt x="4804367" y="4420017"/>
                </a:lnTo>
                <a:lnTo>
                  <a:pt x="4804367" y="0"/>
                </a:lnTo>
                <a:lnTo>
                  <a:pt x="0" y="0"/>
                </a:lnTo>
                <a:lnTo>
                  <a:pt x="0" y="4420017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15"/>
          <p:cNvSpPr/>
          <p:nvPr/>
        </p:nvSpPr>
        <p:spPr>
          <a:xfrm flipH="1">
            <a:off x="1831869" y="977232"/>
            <a:ext cx="3838597" cy="475026"/>
          </a:xfrm>
          <a:custGeom>
            <a:rect b="b" l="l" r="r" t="t"/>
            <a:pathLst>
              <a:path extrusionOk="0" h="475026" w="3838597">
                <a:moveTo>
                  <a:pt x="3838597" y="0"/>
                </a:moveTo>
                <a:lnTo>
                  <a:pt x="0" y="0"/>
                </a:lnTo>
                <a:lnTo>
                  <a:pt x="0" y="475027"/>
                </a:lnTo>
                <a:lnTo>
                  <a:pt x="3838597" y="475027"/>
                </a:lnTo>
                <a:lnTo>
                  <a:pt x="3838597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15"/>
          <p:cNvSpPr/>
          <p:nvPr/>
        </p:nvSpPr>
        <p:spPr>
          <a:xfrm>
            <a:off x="523496" y="161269"/>
            <a:ext cx="1650977" cy="1650977"/>
          </a:xfrm>
          <a:custGeom>
            <a:rect b="b" l="l" r="r" t="t"/>
            <a:pathLst>
              <a:path extrusionOk="0" h="1650977" w="1650977">
                <a:moveTo>
                  <a:pt x="0" y="0"/>
                </a:moveTo>
                <a:lnTo>
                  <a:pt x="1650977" y="0"/>
                </a:lnTo>
                <a:lnTo>
                  <a:pt x="1650977" y="1650977"/>
                </a:lnTo>
                <a:lnTo>
                  <a:pt x="0" y="16509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4" name="Google Shape;104;p15"/>
          <p:cNvCxnSpPr/>
          <p:nvPr/>
        </p:nvCxnSpPr>
        <p:spPr>
          <a:xfrm flipH="1" rot="10800000">
            <a:off x="221475" y="2940071"/>
            <a:ext cx="38100" cy="4571700"/>
          </a:xfrm>
          <a:prstGeom prst="straightConnector1">
            <a:avLst/>
          </a:prstGeom>
          <a:noFill/>
          <a:ln cap="flat" cmpd="sng" w="38100">
            <a:solidFill>
              <a:srgbClr val="0097B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5" name="Google Shape;105;p15"/>
          <p:cNvCxnSpPr/>
          <p:nvPr/>
        </p:nvCxnSpPr>
        <p:spPr>
          <a:xfrm flipH="1" rot="10800000">
            <a:off x="17998751" y="2940096"/>
            <a:ext cx="38100" cy="4571700"/>
          </a:xfrm>
          <a:prstGeom prst="straightConnector1">
            <a:avLst/>
          </a:prstGeom>
          <a:noFill/>
          <a:ln cap="flat" cmpd="sng" w="38100">
            <a:solidFill>
              <a:srgbClr val="0097B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06" name="TextBox 105"/>
          <p:cNvSpPr txBox="1"/>
          <p:nvPr/>
        </p:nvSpPr>
        <p:spPr>
          <a:xfrm>
            <a:off x="914400" y="1371599"/>
            <a:ext cx="1645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97B2"/>
                </a:solidFill>
                <a:latin typeface="Arial"/>
              </a:rPr>
              <a:t>MODULE 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4400" y="1874519"/>
            <a:ext cx="1645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700" b="1" i="0">
                <a:solidFill>
                  <a:srgbClr val="231F20"/>
                </a:solidFill>
                <a:latin typeface="Arial"/>
              </a:rPr>
              <a:t>What Is Authentication?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14400" y="3154680"/>
            <a:ext cx="7863840" cy="1828800"/>
          </a:xfrm>
          <a:prstGeom prst="roundRect">
            <a:avLst>
              <a:gd name="adj" fmla="val 10000"/>
            </a:avLst>
          </a:prstGeom>
          <a:solidFill>
            <a:srgbClr val="0097B2"/>
          </a:solidFill>
          <a:ln w="22225">
            <a:solidFill>
              <a:srgbClr val="009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700" b="0" i="0">
                <a:solidFill>
                  <a:srgbClr val="FFFFFF"/>
                </a:solidFill>
                <a:latin typeface="Arial"/>
              </a:rPr>
              <a:t>Authentication answers one question:</a:t>
            </a:r>
          </a:p>
          <a:p>
            <a:pPr algn="ctr"/>
            <a:r>
              <a:rPr sz="3000" b="1" i="0">
                <a:solidFill>
                  <a:srgbClr val="FFFFFF"/>
                </a:solidFill>
                <a:latin typeface="Arial"/>
              </a:rPr>
              <a:t>“Who are you?”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14400" y="5440680"/>
            <a:ext cx="7863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5000"/>
              </a:lnSpc>
              <a:spcAft>
                <a:spcPts val="1600"/>
              </a:spcAft>
              <a:buClr>
                <a:srgbClr val="0097B2"/>
              </a:buClr>
              <a:buSzPct val="90000"/>
              <a:buFont typeface="Arial"/>
              <a:buChar char="●"/>
            </a:pPr>
            <a:r>
              <a:rPr b="1" sz="1700">
                <a:solidFill>
                  <a:srgbClr val="231F20"/>
                </a:solidFill>
                <a:latin typeface="Arial"/>
              </a:rPr>
              <a:t>Proving identity. </a:t>
            </a:r>
            <a:r>
              <a:rPr b="0" sz="1700">
                <a:solidFill>
                  <a:srgbClr val="231F20"/>
                </a:solidFill>
                <a:latin typeface="Arial"/>
              </a:rPr>
              <a:t>You show something that proves you are really you.</a:t>
            </a:r>
          </a:p>
          <a:p>
            <a:pPr marL="256032" indent="-256032">
              <a:lnSpc>
                <a:spcPct val="115000"/>
              </a:lnSpc>
              <a:spcAft>
                <a:spcPts val="1600"/>
              </a:spcAft>
              <a:buClr>
                <a:srgbClr val="0097B2"/>
              </a:buClr>
              <a:buSzPct val="90000"/>
              <a:buFont typeface="Arial"/>
              <a:buChar char="●"/>
            </a:pPr>
            <a:r>
              <a:rPr b="1" sz="1700">
                <a:solidFill>
                  <a:srgbClr val="231F20"/>
                </a:solidFill>
                <a:latin typeface="Arial"/>
              </a:rPr>
              <a:t>Logging in is authentication. </a:t>
            </a:r>
            <a:r>
              <a:rPr b="0" sz="1700">
                <a:solidFill>
                  <a:srgbClr val="231F20"/>
                </a:solidFill>
                <a:latin typeface="Arial"/>
              </a:rPr>
              <a:t>Your username and password say ‘this is me’.</a:t>
            </a:r>
          </a:p>
          <a:p>
            <a:pPr marL="256032" indent="-256032">
              <a:lnSpc>
                <a:spcPct val="115000"/>
              </a:lnSpc>
              <a:spcAft>
                <a:spcPts val="1600"/>
              </a:spcAft>
              <a:buClr>
                <a:srgbClr val="0097B2"/>
              </a:buClr>
              <a:buSzPct val="90000"/>
              <a:buFont typeface="Arial"/>
              <a:buChar char="●"/>
            </a:pPr>
            <a:r>
              <a:rPr b="1" sz="1700">
                <a:solidFill>
                  <a:srgbClr val="231F20"/>
                </a:solidFill>
                <a:latin typeface="Arial"/>
              </a:rPr>
              <a:t>It happens first. </a:t>
            </a:r>
            <a:r>
              <a:rPr b="0" sz="1700">
                <a:solidFill>
                  <a:srgbClr val="231F20"/>
                </a:solidFill>
                <a:latin typeface="Arial"/>
              </a:rPr>
              <a:t>Before the app can do anything for you, it must know you.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509760" y="315468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97B2"/>
                </a:solidFill>
                <a:latin typeface="Arial"/>
              </a:rPr>
              <a:t>Everyday example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9509760" y="3749040"/>
            <a:ext cx="6949440" cy="4206240"/>
          </a:xfrm>
          <a:prstGeom prst="roundRect">
            <a:avLst>
              <a:gd name="adj" fmla="val 6000"/>
            </a:avLst>
          </a:prstGeom>
          <a:solidFill>
            <a:srgbClr val="F0F6F8"/>
          </a:solidFill>
          <a:ln w="15875">
            <a:solidFill>
              <a:srgbClr val="D6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875520" y="4114800"/>
            <a:ext cx="6217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1" i="0">
                <a:solidFill>
                  <a:srgbClr val="231F20"/>
                </a:solidFill>
                <a:latin typeface="Arial"/>
              </a:rPr>
              <a:t>At the airport check-in desk: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 i="0">
                <a:solidFill>
                  <a:srgbClr val="231F20"/>
                </a:solidFill>
                <a:latin typeface="Arial"/>
              </a:rPr>
              <a:t> 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5B6670"/>
                </a:solidFill>
                <a:latin typeface="Arial"/>
              </a:rPr>
              <a:t>The agent asks for your passport.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5B6670"/>
                </a:solidFill>
                <a:latin typeface="Arial"/>
              </a:rPr>
              <a:t>You hand it over.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5B6670"/>
                </a:solidFill>
                <a:latin typeface="Arial"/>
              </a:rPr>
              <a:t>They compare your face to the photo.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 i="0">
                <a:solidFill>
                  <a:srgbClr val="231F20"/>
                </a:solidFill>
                <a:latin typeface="Arial"/>
              </a:rPr>
              <a:t> 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1" i="0">
                <a:solidFill>
                  <a:srgbClr val="1B2A4A"/>
                </a:solidFill>
                <a:latin typeface="Arial"/>
              </a:rPr>
              <a:t>That check — ‘are you really this person?’ — is authentication.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914400" y="8183879"/>
            <a:ext cx="16459200" cy="685800"/>
          </a:xfrm>
          <a:prstGeom prst="roundRect">
            <a:avLst>
              <a:gd name="adj" fmla="val 25000"/>
            </a:avLst>
          </a:prstGeom>
          <a:solidFill>
            <a:srgbClr val="F0F6F8"/>
          </a:solidFill>
          <a:ln w="12700">
            <a:solidFill>
              <a:srgbClr val="D6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280160" y="8202167"/>
            <a:ext cx="15727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0097B2"/>
                </a:solidFill>
                <a:latin typeface="Arial"/>
              </a:rPr>
              <a:t>Learning objective:  </a:t>
            </a:r>
            <a:r>
              <a:rPr sz="1400" b="0" i="0">
                <a:solidFill>
                  <a:srgbClr val="5B6670"/>
                </a:solidFill>
                <a:latin typeface="Arial"/>
              </a:rPr>
              <a:t>Define authentication as proving who you are.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/>
      <p:sp>
        <p:nvSpPr>
          <p:cNvPr id="100" name="Google Shape;100;p15"/>
          <p:cNvSpPr/>
          <p:nvPr/>
        </p:nvSpPr>
        <p:spPr>
          <a:xfrm flipH="1">
            <a:off x="15555324" y="-3181515"/>
            <a:ext cx="5235508" cy="4816668"/>
          </a:xfrm>
          <a:custGeom>
            <a:rect b="b" l="l" r="r" t="t"/>
            <a:pathLst>
              <a:path extrusionOk="0" h="4816668" w="5235508">
                <a:moveTo>
                  <a:pt x="5235508" y="0"/>
                </a:moveTo>
                <a:lnTo>
                  <a:pt x="0" y="0"/>
                </a:lnTo>
                <a:lnTo>
                  <a:pt x="0" y="4816668"/>
                </a:lnTo>
                <a:lnTo>
                  <a:pt x="5235508" y="4816668"/>
                </a:lnTo>
                <a:lnTo>
                  <a:pt x="5235508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5"/>
          <p:cNvSpPr/>
          <p:nvPr/>
        </p:nvSpPr>
        <p:spPr>
          <a:xfrm flipH="1" rot="10800000">
            <a:off x="-2629894" y="8208196"/>
            <a:ext cx="4804367" cy="4420017"/>
          </a:xfrm>
          <a:custGeom>
            <a:rect b="b" l="l" r="r" t="t"/>
            <a:pathLst>
              <a:path extrusionOk="0" h="4420017" w="4804367">
                <a:moveTo>
                  <a:pt x="0" y="4420017"/>
                </a:moveTo>
                <a:lnTo>
                  <a:pt x="4804367" y="4420017"/>
                </a:lnTo>
                <a:lnTo>
                  <a:pt x="4804367" y="0"/>
                </a:lnTo>
                <a:lnTo>
                  <a:pt x="0" y="0"/>
                </a:lnTo>
                <a:lnTo>
                  <a:pt x="0" y="4420017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15"/>
          <p:cNvSpPr/>
          <p:nvPr/>
        </p:nvSpPr>
        <p:spPr>
          <a:xfrm flipH="1">
            <a:off x="1831869" y="977232"/>
            <a:ext cx="3838597" cy="475026"/>
          </a:xfrm>
          <a:custGeom>
            <a:rect b="b" l="l" r="r" t="t"/>
            <a:pathLst>
              <a:path extrusionOk="0" h="475026" w="3838597">
                <a:moveTo>
                  <a:pt x="3838597" y="0"/>
                </a:moveTo>
                <a:lnTo>
                  <a:pt x="0" y="0"/>
                </a:lnTo>
                <a:lnTo>
                  <a:pt x="0" y="475027"/>
                </a:lnTo>
                <a:lnTo>
                  <a:pt x="3838597" y="475027"/>
                </a:lnTo>
                <a:lnTo>
                  <a:pt x="3838597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15"/>
          <p:cNvSpPr/>
          <p:nvPr/>
        </p:nvSpPr>
        <p:spPr>
          <a:xfrm>
            <a:off x="523496" y="161269"/>
            <a:ext cx="1650977" cy="1650977"/>
          </a:xfrm>
          <a:custGeom>
            <a:rect b="b" l="l" r="r" t="t"/>
            <a:pathLst>
              <a:path extrusionOk="0" h="1650977" w="1650977">
                <a:moveTo>
                  <a:pt x="0" y="0"/>
                </a:moveTo>
                <a:lnTo>
                  <a:pt x="1650977" y="0"/>
                </a:lnTo>
                <a:lnTo>
                  <a:pt x="1650977" y="1650977"/>
                </a:lnTo>
                <a:lnTo>
                  <a:pt x="0" y="16509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4" name="Google Shape;104;p15"/>
          <p:cNvCxnSpPr/>
          <p:nvPr/>
        </p:nvCxnSpPr>
        <p:spPr>
          <a:xfrm flipH="1" rot="10800000">
            <a:off x="221475" y="2940071"/>
            <a:ext cx="38100" cy="4571700"/>
          </a:xfrm>
          <a:prstGeom prst="straightConnector1">
            <a:avLst/>
          </a:prstGeom>
          <a:noFill/>
          <a:ln cap="flat" cmpd="sng" w="38100">
            <a:solidFill>
              <a:srgbClr val="0097B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5" name="Google Shape;105;p15"/>
          <p:cNvCxnSpPr/>
          <p:nvPr/>
        </p:nvCxnSpPr>
        <p:spPr>
          <a:xfrm flipH="1" rot="10800000">
            <a:off x="17998751" y="2940096"/>
            <a:ext cx="38100" cy="4571700"/>
          </a:xfrm>
          <a:prstGeom prst="straightConnector1">
            <a:avLst/>
          </a:prstGeom>
          <a:noFill/>
          <a:ln cap="flat" cmpd="sng" w="38100">
            <a:solidFill>
              <a:srgbClr val="0097B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06" name="TextBox 105"/>
          <p:cNvSpPr txBox="1"/>
          <p:nvPr/>
        </p:nvSpPr>
        <p:spPr>
          <a:xfrm>
            <a:off x="914400" y="1371599"/>
            <a:ext cx="1645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97B2"/>
                </a:solidFill>
                <a:latin typeface="Arial"/>
              </a:rPr>
              <a:t>MODULE 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4400" y="1874519"/>
            <a:ext cx="1645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700" b="1" i="0">
                <a:solidFill>
                  <a:srgbClr val="231F20"/>
                </a:solidFill>
                <a:latin typeface="Arial"/>
              </a:rPr>
              <a:t>Authentication Is All Around You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14400" y="3657600"/>
            <a:ext cx="379476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88720" y="3858768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097B2"/>
                </a:solidFill>
                <a:latin typeface="Arial"/>
              </a:rPr>
              <a:t>ATM card + PIN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188720" y="4315968"/>
            <a:ext cx="3246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5B6670"/>
                </a:solidFill>
                <a:latin typeface="Arial"/>
              </a:rPr>
              <a:t>Card = who you claim to be. PIN = proof only you know.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5135880" y="3657600"/>
            <a:ext cx="379476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410199" y="3858768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097B2"/>
                </a:solidFill>
                <a:latin typeface="Arial"/>
              </a:rPr>
              <a:t>Passport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410199" y="4315968"/>
            <a:ext cx="3246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5B6670"/>
                </a:solidFill>
                <a:latin typeface="Arial"/>
              </a:rPr>
              <a:t>A trusted document that proves your identity abroad.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9357360" y="3657600"/>
            <a:ext cx="379476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631680" y="3858768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097B2"/>
                </a:solidFill>
                <a:latin typeface="Arial"/>
              </a:rPr>
              <a:t>Driver's license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631680" y="4315968"/>
            <a:ext cx="3246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5B6670"/>
                </a:solidFill>
                <a:latin typeface="Arial"/>
              </a:rPr>
              <a:t>Photo + details a police officer can verify.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13578839" y="3657600"/>
            <a:ext cx="379476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3853159" y="3858768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097B2"/>
                </a:solidFill>
                <a:latin typeface="Arial"/>
              </a:rPr>
              <a:t>National ID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3853159" y="4315968"/>
            <a:ext cx="3246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5B6670"/>
                </a:solidFill>
                <a:latin typeface="Arial"/>
              </a:rPr>
              <a:t>One identity the whole country recognises.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914400" y="5669280"/>
            <a:ext cx="379476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188720" y="5870448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097B2"/>
                </a:solidFill>
                <a:latin typeface="Arial"/>
              </a:rPr>
              <a:t>Office ID card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188720" y="6327648"/>
            <a:ext cx="3246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5B6670"/>
                </a:solidFill>
                <a:latin typeface="Arial"/>
              </a:rPr>
              <a:t>Swipe to prove you belong in the building.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135880" y="5669280"/>
            <a:ext cx="379476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410199" y="5870448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097B2"/>
                </a:solidFill>
                <a:latin typeface="Arial"/>
              </a:rPr>
              <a:t>Fingerprint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410199" y="6327648"/>
            <a:ext cx="3246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5B6670"/>
                </a:solidFill>
                <a:latin typeface="Arial"/>
              </a:rPr>
              <a:t>Something you ARE — impossible to forget at home.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9357360" y="5669280"/>
            <a:ext cx="379476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631680" y="5870448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097B2"/>
                </a:solidFill>
                <a:latin typeface="Arial"/>
              </a:rPr>
              <a:t>Face unlock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631680" y="6327648"/>
            <a:ext cx="3246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5B6670"/>
                </a:solidFill>
                <a:latin typeface="Arial"/>
              </a:rPr>
              <a:t>Your phone recognises your face before opening.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3578839" y="5669280"/>
            <a:ext cx="379476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3853159" y="5870448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097B2"/>
                </a:solidFill>
                <a:latin typeface="Arial"/>
              </a:rPr>
              <a:t>Phone password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3853159" y="6327648"/>
            <a:ext cx="3246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5B6670"/>
                </a:solidFill>
                <a:latin typeface="Arial"/>
              </a:rPr>
              <a:t>A secret only you should know.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14400" y="3172968"/>
            <a:ext cx="1645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1">
                <a:solidFill>
                  <a:srgbClr val="231F20"/>
                </a:solidFill>
                <a:latin typeface="Arial"/>
              </a:rPr>
              <a:t>In software, each of these becomes a login method — same idea, digital form.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914400" y="8183879"/>
            <a:ext cx="16459200" cy="685800"/>
          </a:xfrm>
          <a:prstGeom prst="roundRect">
            <a:avLst>
              <a:gd name="adj" fmla="val 25000"/>
            </a:avLst>
          </a:prstGeom>
          <a:solidFill>
            <a:srgbClr val="F0F6F8"/>
          </a:solidFill>
          <a:ln w="12700">
            <a:solidFill>
              <a:srgbClr val="D6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280160" y="8202167"/>
            <a:ext cx="15727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0097B2"/>
                </a:solidFill>
                <a:latin typeface="Arial"/>
              </a:rPr>
              <a:t>Learning objective:  </a:t>
            </a:r>
            <a:r>
              <a:rPr sz="1400" b="0" i="0">
                <a:solidFill>
                  <a:srgbClr val="5B6670"/>
                </a:solidFill>
                <a:latin typeface="Arial"/>
              </a:rPr>
              <a:t>Recognise authentication in ordinary daily life.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/>
      <p:sp>
        <p:nvSpPr>
          <p:cNvPr id="100" name="Google Shape;100;p15"/>
          <p:cNvSpPr/>
          <p:nvPr/>
        </p:nvSpPr>
        <p:spPr>
          <a:xfrm flipH="1">
            <a:off x="15555324" y="-3181515"/>
            <a:ext cx="5235508" cy="4816668"/>
          </a:xfrm>
          <a:custGeom>
            <a:rect b="b" l="l" r="r" t="t"/>
            <a:pathLst>
              <a:path extrusionOk="0" h="4816668" w="5235508">
                <a:moveTo>
                  <a:pt x="5235508" y="0"/>
                </a:moveTo>
                <a:lnTo>
                  <a:pt x="0" y="0"/>
                </a:lnTo>
                <a:lnTo>
                  <a:pt x="0" y="4816668"/>
                </a:lnTo>
                <a:lnTo>
                  <a:pt x="5235508" y="4816668"/>
                </a:lnTo>
                <a:lnTo>
                  <a:pt x="5235508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5"/>
          <p:cNvSpPr/>
          <p:nvPr/>
        </p:nvSpPr>
        <p:spPr>
          <a:xfrm flipH="1" rot="10800000">
            <a:off x="-2629894" y="8208196"/>
            <a:ext cx="4804367" cy="4420017"/>
          </a:xfrm>
          <a:custGeom>
            <a:rect b="b" l="l" r="r" t="t"/>
            <a:pathLst>
              <a:path extrusionOk="0" h="4420017" w="4804367">
                <a:moveTo>
                  <a:pt x="0" y="4420017"/>
                </a:moveTo>
                <a:lnTo>
                  <a:pt x="4804367" y="4420017"/>
                </a:lnTo>
                <a:lnTo>
                  <a:pt x="4804367" y="0"/>
                </a:lnTo>
                <a:lnTo>
                  <a:pt x="0" y="0"/>
                </a:lnTo>
                <a:lnTo>
                  <a:pt x="0" y="4420017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15"/>
          <p:cNvSpPr/>
          <p:nvPr/>
        </p:nvSpPr>
        <p:spPr>
          <a:xfrm flipH="1">
            <a:off x="1831869" y="977232"/>
            <a:ext cx="3838597" cy="475026"/>
          </a:xfrm>
          <a:custGeom>
            <a:rect b="b" l="l" r="r" t="t"/>
            <a:pathLst>
              <a:path extrusionOk="0" h="475026" w="3838597">
                <a:moveTo>
                  <a:pt x="3838597" y="0"/>
                </a:moveTo>
                <a:lnTo>
                  <a:pt x="0" y="0"/>
                </a:lnTo>
                <a:lnTo>
                  <a:pt x="0" y="475027"/>
                </a:lnTo>
                <a:lnTo>
                  <a:pt x="3838597" y="475027"/>
                </a:lnTo>
                <a:lnTo>
                  <a:pt x="3838597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15"/>
          <p:cNvSpPr/>
          <p:nvPr/>
        </p:nvSpPr>
        <p:spPr>
          <a:xfrm>
            <a:off x="523496" y="161269"/>
            <a:ext cx="1650977" cy="1650977"/>
          </a:xfrm>
          <a:custGeom>
            <a:rect b="b" l="l" r="r" t="t"/>
            <a:pathLst>
              <a:path extrusionOk="0" h="1650977" w="1650977">
                <a:moveTo>
                  <a:pt x="0" y="0"/>
                </a:moveTo>
                <a:lnTo>
                  <a:pt x="1650977" y="0"/>
                </a:lnTo>
                <a:lnTo>
                  <a:pt x="1650977" y="1650977"/>
                </a:lnTo>
                <a:lnTo>
                  <a:pt x="0" y="16509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4" name="Google Shape;104;p15"/>
          <p:cNvCxnSpPr/>
          <p:nvPr/>
        </p:nvCxnSpPr>
        <p:spPr>
          <a:xfrm flipH="1" rot="10800000">
            <a:off x="221475" y="2940071"/>
            <a:ext cx="38100" cy="4571700"/>
          </a:xfrm>
          <a:prstGeom prst="straightConnector1">
            <a:avLst/>
          </a:prstGeom>
          <a:noFill/>
          <a:ln cap="flat" cmpd="sng" w="38100">
            <a:solidFill>
              <a:srgbClr val="0097B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5" name="Google Shape;105;p15"/>
          <p:cNvCxnSpPr/>
          <p:nvPr/>
        </p:nvCxnSpPr>
        <p:spPr>
          <a:xfrm flipH="1" rot="10800000">
            <a:off x="17998751" y="2940096"/>
            <a:ext cx="38100" cy="4571700"/>
          </a:xfrm>
          <a:prstGeom prst="straightConnector1">
            <a:avLst/>
          </a:prstGeom>
          <a:noFill/>
          <a:ln cap="flat" cmpd="sng" w="38100">
            <a:solidFill>
              <a:srgbClr val="0097B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06" name="TextBox 105"/>
          <p:cNvSpPr txBox="1"/>
          <p:nvPr/>
        </p:nvSpPr>
        <p:spPr>
          <a:xfrm>
            <a:off x="914400" y="1371599"/>
            <a:ext cx="1645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97B2"/>
                </a:solidFill>
                <a:latin typeface="Arial"/>
              </a:rPr>
              <a:t>MODULE 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4400" y="1874519"/>
            <a:ext cx="1645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700" b="1" i="0">
                <a:solidFill>
                  <a:srgbClr val="231F20"/>
                </a:solidFill>
                <a:latin typeface="Arial"/>
              </a:rPr>
              <a:t>Different Ways Apps Log You In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14400" y="3657600"/>
            <a:ext cx="379476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88720" y="3858768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0097B2"/>
                </a:solidFill>
                <a:latin typeface="Arial"/>
              </a:rPr>
              <a:t>Username &amp; password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188720" y="4315968"/>
            <a:ext cx="3246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5B6670"/>
                </a:solidFill>
                <a:latin typeface="Arial"/>
              </a:rPr>
              <a:t>The classic. A name plus a secret.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5135880" y="3657600"/>
            <a:ext cx="379476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410199" y="3858768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0097B2"/>
                </a:solidFill>
                <a:latin typeface="Arial"/>
              </a:rPr>
              <a:t>Email &amp; password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410199" y="4315968"/>
            <a:ext cx="3246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5B6670"/>
                </a:solidFill>
                <a:latin typeface="Arial"/>
              </a:rPr>
              <a:t>Same idea, using your email as the name.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9357360" y="3657600"/>
            <a:ext cx="379476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631680" y="3858768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0097B2"/>
                </a:solidFill>
                <a:latin typeface="Arial"/>
              </a:rPr>
              <a:t>OTP (one-time code)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631680" y="4315968"/>
            <a:ext cx="3246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5B6670"/>
                </a:solidFill>
                <a:latin typeface="Arial"/>
              </a:rPr>
              <a:t>A short code sent to your phone, used once.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13578839" y="3657600"/>
            <a:ext cx="379476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3853159" y="3858768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0097B2"/>
                </a:solidFill>
                <a:latin typeface="Arial"/>
              </a:rPr>
              <a:t>Biometrics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3853159" y="4315968"/>
            <a:ext cx="3246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5B6670"/>
                </a:solidFill>
                <a:latin typeface="Arial"/>
              </a:rPr>
              <a:t>Fingerprint or face — something you are.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914400" y="5669280"/>
            <a:ext cx="379476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188720" y="5870448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0097B2"/>
                </a:solidFill>
                <a:latin typeface="Arial"/>
              </a:rPr>
              <a:t>Magic link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188720" y="6327648"/>
            <a:ext cx="3246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5B6670"/>
                </a:solidFill>
                <a:latin typeface="Arial"/>
              </a:rPr>
              <a:t>A special login link emailed straight to you.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135880" y="5669280"/>
            <a:ext cx="379476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410199" y="5870448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0097B2"/>
                </a:solidFill>
                <a:latin typeface="Arial"/>
              </a:rPr>
              <a:t>Social login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410199" y="6327648"/>
            <a:ext cx="3246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5B6670"/>
                </a:solidFill>
                <a:latin typeface="Arial"/>
              </a:rPr>
              <a:t>‘Continue with Google / Facebook’.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9357360" y="5669280"/>
            <a:ext cx="379476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631680" y="5870448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0097B2"/>
                </a:solidFill>
                <a:latin typeface="Arial"/>
              </a:rPr>
              <a:t>Multi-Factor (MFA)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631680" y="6327648"/>
            <a:ext cx="3246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5B6670"/>
                </a:solidFill>
                <a:latin typeface="Arial"/>
              </a:rPr>
              <a:t>Two proofs: a password AND a phone code.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3578839" y="5669280"/>
            <a:ext cx="3794760" cy="1600200"/>
          </a:xfrm>
          <a:prstGeom prst="roundRect">
            <a:avLst>
              <a:gd name="adj" fmla="val 7000"/>
            </a:avLst>
          </a:prstGeom>
          <a:solidFill>
            <a:srgbClr val="1B2A4A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3853159" y="5870448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You'll implement these later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3853159" y="6327648"/>
            <a:ext cx="3246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D8E0EC"/>
                </a:solidFill>
                <a:latin typeface="Arial"/>
              </a:rPr>
              <a:t>Today we only build the mental picture.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14400" y="3172968"/>
            <a:ext cx="1645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1">
                <a:solidFill>
                  <a:srgbClr val="231F20"/>
                </a:solidFill>
                <a:latin typeface="Arial"/>
              </a:rPr>
              <a:t>Stronger methods combine more than one kind of proof.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914400" y="8183879"/>
            <a:ext cx="16459200" cy="685800"/>
          </a:xfrm>
          <a:prstGeom prst="roundRect">
            <a:avLst>
              <a:gd name="adj" fmla="val 25000"/>
            </a:avLst>
          </a:prstGeom>
          <a:solidFill>
            <a:srgbClr val="F0F6F8"/>
          </a:solidFill>
          <a:ln w="12700">
            <a:solidFill>
              <a:srgbClr val="D6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280160" y="8202167"/>
            <a:ext cx="15727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0097B2"/>
                </a:solidFill>
                <a:latin typeface="Arial"/>
              </a:rPr>
              <a:t>Learning objective:  </a:t>
            </a:r>
            <a:r>
              <a:rPr sz="1400" b="0" i="0">
                <a:solidFill>
                  <a:srgbClr val="5B6670"/>
                </a:solidFill>
                <a:latin typeface="Arial"/>
              </a:rPr>
              <a:t>Name the common ways applications authenticate users.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/>
      <p:sp>
        <p:nvSpPr>
          <p:cNvPr id="100" name="Google Shape;100;p15"/>
          <p:cNvSpPr/>
          <p:nvPr/>
        </p:nvSpPr>
        <p:spPr>
          <a:xfrm flipH="1">
            <a:off x="15555324" y="-3181515"/>
            <a:ext cx="5235508" cy="4816668"/>
          </a:xfrm>
          <a:custGeom>
            <a:rect b="b" l="l" r="r" t="t"/>
            <a:pathLst>
              <a:path extrusionOk="0" h="4816668" w="5235508">
                <a:moveTo>
                  <a:pt x="5235508" y="0"/>
                </a:moveTo>
                <a:lnTo>
                  <a:pt x="0" y="0"/>
                </a:lnTo>
                <a:lnTo>
                  <a:pt x="0" y="4816668"/>
                </a:lnTo>
                <a:lnTo>
                  <a:pt x="5235508" y="4816668"/>
                </a:lnTo>
                <a:lnTo>
                  <a:pt x="5235508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5"/>
          <p:cNvSpPr/>
          <p:nvPr/>
        </p:nvSpPr>
        <p:spPr>
          <a:xfrm flipH="1" rot="10800000">
            <a:off x="-2629894" y="8208196"/>
            <a:ext cx="4804367" cy="4420017"/>
          </a:xfrm>
          <a:custGeom>
            <a:rect b="b" l="l" r="r" t="t"/>
            <a:pathLst>
              <a:path extrusionOk="0" h="4420017" w="4804367">
                <a:moveTo>
                  <a:pt x="0" y="4420017"/>
                </a:moveTo>
                <a:lnTo>
                  <a:pt x="4804367" y="4420017"/>
                </a:lnTo>
                <a:lnTo>
                  <a:pt x="4804367" y="0"/>
                </a:lnTo>
                <a:lnTo>
                  <a:pt x="0" y="0"/>
                </a:lnTo>
                <a:lnTo>
                  <a:pt x="0" y="4420017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15"/>
          <p:cNvSpPr/>
          <p:nvPr/>
        </p:nvSpPr>
        <p:spPr>
          <a:xfrm flipH="1">
            <a:off x="1831869" y="977232"/>
            <a:ext cx="3838597" cy="475026"/>
          </a:xfrm>
          <a:custGeom>
            <a:rect b="b" l="l" r="r" t="t"/>
            <a:pathLst>
              <a:path extrusionOk="0" h="475026" w="3838597">
                <a:moveTo>
                  <a:pt x="3838597" y="0"/>
                </a:moveTo>
                <a:lnTo>
                  <a:pt x="0" y="0"/>
                </a:lnTo>
                <a:lnTo>
                  <a:pt x="0" y="475027"/>
                </a:lnTo>
                <a:lnTo>
                  <a:pt x="3838597" y="475027"/>
                </a:lnTo>
                <a:lnTo>
                  <a:pt x="3838597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15"/>
          <p:cNvSpPr/>
          <p:nvPr/>
        </p:nvSpPr>
        <p:spPr>
          <a:xfrm>
            <a:off x="523496" y="161269"/>
            <a:ext cx="1650977" cy="1650977"/>
          </a:xfrm>
          <a:custGeom>
            <a:rect b="b" l="l" r="r" t="t"/>
            <a:pathLst>
              <a:path extrusionOk="0" h="1650977" w="1650977">
                <a:moveTo>
                  <a:pt x="0" y="0"/>
                </a:moveTo>
                <a:lnTo>
                  <a:pt x="1650977" y="0"/>
                </a:lnTo>
                <a:lnTo>
                  <a:pt x="1650977" y="1650977"/>
                </a:lnTo>
                <a:lnTo>
                  <a:pt x="0" y="16509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4" name="Google Shape;104;p15"/>
          <p:cNvCxnSpPr/>
          <p:nvPr/>
        </p:nvCxnSpPr>
        <p:spPr>
          <a:xfrm flipH="1" rot="10800000">
            <a:off x="221475" y="2940071"/>
            <a:ext cx="38100" cy="4571700"/>
          </a:xfrm>
          <a:prstGeom prst="straightConnector1">
            <a:avLst/>
          </a:prstGeom>
          <a:noFill/>
          <a:ln cap="flat" cmpd="sng" w="38100">
            <a:solidFill>
              <a:srgbClr val="0097B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5" name="Google Shape;105;p15"/>
          <p:cNvCxnSpPr/>
          <p:nvPr/>
        </p:nvCxnSpPr>
        <p:spPr>
          <a:xfrm flipH="1" rot="10800000">
            <a:off x="17998751" y="2940096"/>
            <a:ext cx="38100" cy="4571700"/>
          </a:xfrm>
          <a:prstGeom prst="straightConnector1">
            <a:avLst/>
          </a:prstGeom>
          <a:noFill/>
          <a:ln cap="flat" cmpd="sng" w="38100">
            <a:solidFill>
              <a:srgbClr val="0097B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06" name="TextBox 105"/>
          <p:cNvSpPr txBox="1"/>
          <p:nvPr/>
        </p:nvSpPr>
        <p:spPr>
          <a:xfrm>
            <a:off x="914400" y="1371599"/>
            <a:ext cx="1645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97B2"/>
                </a:solidFill>
                <a:latin typeface="Arial"/>
              </a:rPr>
              <a:t>MODULE 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4400" y="1874519"/>
            <a:ext cx="1645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700" b="1" i="0">
                <a:solidFill>
                  <a:srgbClr val="231F20"/>
                </a:solidFill>
                <a:latin typeface="Arial"/>
              </a:rPr>
              <a:t>What Is Authorization?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14400" y="3154680"/>
            <a:ext cx="7863840" cy="18288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2222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700" b="0" i="0">
                <a:solidFill>
                  <a:srgbClr val="FFFFFF"/>
                </a:solidFill>
                <a:latin typeface="Arial"/>
              </a:rPr>
              <a:t>Authorization answers a different question:</a:t>
            </a:r>
          </a:p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“What are you allowed to do?”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14400" y="5440680"/>
            <a:ext cx="7863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5000"/>
              </a:lnSpc>
              <a:spcAft>
                <a:spcPts val="1600"/>
              </a:spcAft>
              <a:buClr>
                <a:srgbClr val="0097B2"/>
              </a:buClr>
              <a:buSzPct val="90000"/>
              <a:buFont typeface="Arial"/>
              <a:buChar char="●"/>
            </a:pPr>
            <a:r>
              <a:rPr b="1" sz="1700">
                <a:solidFill>
                  <a:srgbClr val="231F20"/>
                </a:solidFill>
                <a:latin typeface="Arial"/>
              </a:rPr>
              <a:t>It comes second. </a:t>
            </a:r>
            <a:r>
              <a:rPr b="0" sz="1700">
                <a:solidFill>
                  <a:srgbClr val="231F20"/>
                </a:solidFill>
                <a:latin typeface="Arial"/>
              </a:rPr>
              <a:t>First we know who you are, then what you may do.</a:t>
            </a:r>
          </a:p>
          <a:p>
            <a:pPr marL="256032" indent="-256032">
              <a:lnSpc>
                <a:spcPct val="115000"/>
              </a:lnSpc>
              <a:spcAft>
                <a:spcPts val="1600"/>
              </a:spcAft>
              <a:buClr>
                <a:srgbClr val="0097B2"/>
              </a:buClr>
              <a:buSzPct val="90000"/>
              <a:buFont typeface="Arial"/>
              <a:buChar char="●"/>
            </a:pPr>
            <a:r>
              <a:rPr b="1" sz="1700">
                <a:solidFill>
                  <a:srgbClr val="231F20"/>
                </a:solidFill>
                <a:latin typeface="Arial"/>
              </a:rPr>
              <a:t>It's about permission, not identity. </a:t>
            </a:r>
            <a:r>
              <a:rPr b="0" sz="1700">
                <a:solidFill>
                  <a:srgbClr val="231F20"/>
                </a:solidFill>
                <a:latin typeface="Arial"/>
              </a:rPr>
              <a:t>Same person, different rights.</a:t>
            </a:r>
          </a:p>
          <a:p>
            <a:pPr marL="256032" indent="-256032">
              <a:lnSpc>
                <a:spcPct val="115000"/>
              </a:lnSpc>
              <a:spcAft>
                <a:spcPts val="1600"/>
              </a:spcAft>
              <a:buClr>
                <a:srgbClr val="0097B2"/>
              </a:buClr>
              <a:buSzPct val="90000"/>
              <a:buFont typeface="Arial"/>
              <a:buChar char="●"/>
            </a:pPr>
            <a:r>
              <a:rPr b="1" sz="1700">
                <a:solidFill>
                  <a:srgbClr val="231F20"/>
                </a:solidFill>
                <a:latin typeface="Arial"/>
              </a:rPr>
              <a:t>It decides access. </a:t>
            </a:r>
            <a:r>
              <a:rPr b="0" sz="1700">
                <a:solidFill>
                  <a:srgbClr val="231F20"/>
                </a:solidFill>
                <a:latin typeface="Arial"/>
              </a:rPr>
              <a:t>Allowed through, or politely turned away.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509760" y="315468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97B2"/>
                </a:solidFill>
                <a:latin typeface="Arial"/>
              </a:rPr>
              <a:t>Same login, different rights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9509760" y="3794760"/>
            <a:ext cx="6949440" cy="1005840"/>
          </a:xfrm>
          <a:prstGeom prst="roundRect">
            <a:avLst>
              <a:gd name="adj" fmla="val 10000"/>
            </a:avLst>
          </a:prstGeom>
          <a:solidFill>
            <a:srgbClr val="F0F6F8"/>
          </a:solidFill>
          <a:ln w="12700">
            <a:solidFill>
              <a:srgbClr val="D6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829800" y="3813048"/>
            <a:ext cx="2743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B2A4A"/>
                </a:solidFill>
                <a:latin typeface="Arial"/>
              </a:rPr>
              <a:t>Bank teller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2527280" y="3813048"/>
            <a:ext cx="374903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5B6670"/>
                </a:solidFill>
                <a:latin typeface="Arial"/>
              </a:rPr>
              <a:t>Can open your account screen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9509760" y="4965192"/>
            <a:ext cx="6949440" cy="1005840"/>
          </a:xfrm>
          <a:prstGeom prst="roundRect">
            <a:avLst>
              <a:gd name="adj" fmla="val 10000"/>
            </a:avLst>
          </a:prstGeom>
          <a:solidFill>
            <a:srgbClr val="F0F6F8"/>
          </a:solidFill>
          <a:ln w="12700">
            <a:solidFill>
              <a:srgbClr val="D6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829800" y="4983480"/>
            <a:ext cx="2743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B2A4A"/>
                </a:solidFill>
                <a:latin typeface="Arial"/>
              </a:rPr>
              <a:t>Bank manager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2527280" y="4983480"/>
            <a:ext cx="374903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5B6670"/>
                </a:solidFill>
                <a:latin typeface="Arial"/>
              </a:rPr>
              <a:t>Can also approve large loans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9509760" y="6135624"/>
            <a:ext cx="6949440" cy="1005840"/>
          </a:xfrm>
          <a:prstGeom prst="roundRect">
            <a:avLst>
              <a:gd name="adj" fmla="val 10000"/>
            </a:avLst>
          </a:prstGeom>
          <a:solidFill>
            <a:srgbClr val="F0F6F8"/>
          </a:solidFill>
          <a:ln w="12700">
            <a:solidFill>
              <a:srgbClr val="D6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829800" y="6153912"/>
            <a:ext cx="2743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B2A4A"/>
                </a:solidFill>
                <a:latin typeface="Arial"/>
              </a:rPr>
              <a:t>You (customer)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2527280" y="6153912"/>
            <a:ext cx="374903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5B6670"/>
                </a:solidFill>
                <a:latin typeface="Arial"/>
              </a:rPr>
              <a:t>Can only see your own account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914400" y="8183879"/>
            <a:ext cx="16459200" cy="685800"/>
          </a:xfrm>
          <a:prstGeom prst="roundRect">
            <a:avLst>
              <a:gd name="adj" fmla="val 25000"/>
            </a:avLst>
          </a:prstGeom>
          <a:solidFill>
            <a:srgbClr val="F0F6F8"/>
          </a:solidFill>
          <a:ln w="12700">
            <a:solidFill>
              <a:srgbClr val="D6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280160" y="8202167"/>
            <a:ext cx="15727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0097B2"/>
                </a:solidFill>
                <a:latin typeface="Arial"/>
              </a:rPr>
              <a:t>Learning objective:  </a:t>
            </a:r>
            <a:r>
              <a:rPr sz="1400" b="0" i="0">
                <a:solidFill>
                  <a:srgbClr val="5B6670"/>
                </a:solidFill>
                <a:latin typeface="Arial"/>
              </a:rPr>
              <a:t>Define authorization as deciding what you're allowed to 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/>
      <p:sp>
        <p:nvSpPr>
          <p:cNvPr id="100" name="Google Shape;100;p15"/>
          <p:cNvSpPr/>
          <p:nvPr/>
        </p:nvSpPr>
        <p:spPr>
          <a:xfrm flipH="1">
            <a:off x="15555324" y="-3181515"/>
            <a:ext cx="5235508" cy="4816668"/>
          </a:xfrm>
          <a:custGeom>
            <a:rect b="b" l="l" r="r" t="t"/>
            <a:pathLst>
              <a:path extrusionOk="0" h="4816668" w="5235508">
                <a:moveTo>
                  <a:pt x="5235508" y="0"/>
                </a:moveTo>
                <a:lnTo>
                  <a:pt x="0" y="0"/>
                </a:lnTo>
                <a:lnTo>
                  <a:pt x="0" y="4816668"/>
                </a:lnTo>
                <a:lnTo>
                  <a:pt x="5235508" y="4816668"/>
                </a:lnTo>
                <a:lnTo>
                  <a:pt x="5235508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5"/>
          <p:cNvSpPr/>
          <p:nvPr/>
        </p:nvSpPr>
        <p:spPr>
          <a:xfrm flipH="1" rot="10800000">
            <a:off x="-2629894" y="8208196"/>
            <a:ext cx="4804367" cy="4420017"/>
          </a:xfrm>
          <a:custGeom>
            <a:rect b="b" l="l" r="r" t="t"/>
            <a:pathLst>
              <a:path extrusionOk="0" h="4420017" w="4804367">
                <a:moveTo>
                  <a:pt x="0" y="4420017"/>
                </a:moveTo>
                <a:lnTo>
                  <a:pt x="4804367" y="4420017"/>
                </a:lnTo>
                <a:lnTo>
                  <a:pt x="4804367" y="0"/>
                </a:lnTo>
                <a:lnTo>
                  <a:pt x="0" y="0"/>
                </a:lnTo>
                <a:lnTo>
                  <a:pt x="0" y="4420017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15"/>
          <p:cNvSpPr/>
          <p:nvPr/>
        </p:nvSpPr>
        <p:spPr>
          <a:xfrm flipH="1">
            <a:off x="1831869" y="977232"/>
            <a:ext cx="3838597" cy="475026"/>
          </a:xfrm>
          <a:custGeom>
            <a:rect b="b" l="l" r="r" t="t"/>
            <a:pathLst>
              <a:path extrusionOk="0" h="475026" w="3838597">
                <a:moveTo>
                  <a:pt x="3838597" y="0"/>
                </a:moveTo>
                <a:lnTo>
                  <a:pt x="0" y="0"/>
                </a:lnTo>
                <a:lnTo>
                  <a:pt x="0" y="475027"/>
                </a:lnTo>
                <a:lnTo>
                  <a:pt x="3838597" y="475027"/>
                </a:lnTo>
                <a:lnTo>
                  <a:pt x="3838597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15"/>
          <p:cNvSpPr/>
          <p:nvPr/>
        </p:nvSpPr>
        <p:spPr>
          <a:xfrm>
            <a:off x="523496" y="161269"/>
            <a:ext cx="1650977" cy="1650977"/>
          </a:xfrm>
          <a:custGeom>
            <a:rect b="b" l="l" r="r" t="t"/>
            <a:pathLst>
              <a:path extrusionOk="0" h="1650977" w="1650977">
                <a:moveTo>
                  <a:pt x="0" y="0"/>
                </a:moveTo>
                <a:lnTo>
                  <a:pt x="1650977" y="0"/>
                </a:lnTo>
                <a:lnTo>
                  <a:pt x="1650977" y="1650977"/>
                </a:lnTo>
                <a:lnTo>
                  <a:pt x="0" y="16509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4" name="Google Shape;104;p15"/>
          <p:cNvCxnSpPr/>
          <p:nvPr/>
        </p:nvCxnSpPr>
        <p:spPr>
          <a:xfrm flipH="1" rot="10800000">
            <a:off x="221475" y="2940071"/>
            <a:ext cx="38100" cy="4571700"/>
          </a:xfrm>
          <a:prstGeom prst="straightConnector1">
            <a:avLst/>
          </a:prstGeom>
          <a:noFill/>
          <a:ln cap="flat" cmpd="sng" w="38100">
            <a:solidFill>
              <a:srgbClr val="0097B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5" name="Google Shape;105;p15"/>
          <p:cNvCxnSpPr/>
          <p:nvPr/>
        </p:nvCxnSpPr>
        <p:spPr>
          <a:xfrm flipH="1" rot="10800000">
            <a:off x="17998751" y="2940096"/>
            <a:ext cx="38100" cy="4571700"/>
          </a:xfrm>
          <a:prstGeom prst="straightConnector1">
            <a:avLst/>
          </a:prstGeom>
          <a:noFill/>
          <a:ln cap="flat" cmpd="sng" w="38100">
            <a:solidFill>
              <a:srgbClr val="0097B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06" name="TextBox 105"/>
          <p:cNvSpPr txBox="1"/>
          <p:nvPr/>
        </p:nvSpPr>
        <p:spPr>
          <a:xfrm>
            <a:off x="914400" y="1371599"/>
            <a:ext cx="1645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97B2"/>
                </a:solidFill>
                <a:latin typeface="Arial"/>
              </a:rPr>
              <a:t>MODULE 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4400" y="1874519"/>
            <a:ext cx="1645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700" b="1" i="0">
                <a:solidFill>
                  <a:srgbClr val="231F20"/>
                </a:solidFill>
                <a:latin typeface="Arial"/>
              </a:rPr>
              <a:t>Authentication vs Authorization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14400" y="3154680"/>
            <a:ext cx="7680960" cy="777240"/>
          </a:xfrm>
          <a:prstGeom prst="rect">
            <a:avLst/>
          </a:prstGeom>
          <a:solidFill>
            <a:srgbClr val="009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AUTHENTICATION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509760" y="3154680"/>
            <a:ext cx="7680960" cy="7772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AUTHORIZATION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14400" y="3931920"/>
            <a:ext cx="7680960" cy="713232"/>
          </a:xfrm>
          <a:prstGeom prst="rect">
            <a:avLst/>
          </a:prstGeom>
          <a:solidFill>
            <a:srgbClr val="F0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509760" y="3931920"/>
            <a:ext cx="7680960" cy="713232"/>
          </a:xfrm>
          <a:prstGeom prst="rect">
            <a:avLst/>
          </a:prstGeom>
          <a:solidFill>
            <a:srgbClr val="F0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188720" y="3931920"/>
            <a:ext cx="2194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5B6670"/>
                </a:solidFill>
                <a:latin typeface="Arial"/>
              </a:rPr>
              <a:t>Question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383280" y="3931920"/>
            <a:ext cx="5029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231F20"/>
                </a:solidFill>
                <a:latin typeface="Arial"/>
              </a:rPr>
              <a:t>“Who are you?”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784080" y="3931920"/>
            <a:ext cx="72237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231F20"/>
                </a:solidFill>
                <a:latin typeface="Arial"/>
              </a:rPr>
              <a:t>“What can you do?”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14400" y="4645152"/>
            <a:ext cx="768096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509760" y="4645152"/>
            <a:ext cx="768096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188720" y="4645152"/>
            <a:ext cx="2194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5B6670"/>
                </a:solidFill>
                <a:latin typeface="Arial"/>
              </a:rPr>
              <a:t>Purpose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383280" y="4645152"/>
            <a:ext cx="5029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231F20"/>
                </a:solidFill>
                <a:latin typeface="Arial"/>
              </a:rPr>
              <a:t>Confirm identity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784080" y="4645152"/>
            <a:ext cx="72237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231F20"/>
                </a:solidFill>
                <a:latin typeface="Arial"/>
              </a:rPr>
              <a:t>Grant or deny access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14400" y="5358384"/>
            <a:ext cx="7680960" cy="713232"/>
          </a:xfrm>
          <a:prstGeom prst="rect">
            <a:avLst/>
          </a:prstGeom>
          <a:solidFill>
            <a:srgbClr val="F0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509760" y="5358384"/>
            <a:ext cx="7680960" cy="713232"/>
          </a:xfrm>
          <a:prstGeom prst="rect">
            <a:avLst/>
          </a:prstGeom>
          <a:solidFill>
            <a:srgbClr val="F0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188720" y="5358384"/>
            <a:ext cx="2194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5B6670"/>
                </a:solidFill>
                <a:latin typeface="Arial"/>
              </a:rPr>
              <a:t>Order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383280" y="5358384"/>
            <a:ext cx="5029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231F20"/>
                </a:solidFill>
                <a:latin typeface="Arial"/>
              </a:rPr>
              <a:t>Happens first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784080" y="5358384"/>
            <a:ext cx="72237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231F20"/>
                </a:solidFill>
                <a:latin typeface="Arial"/>
              </a:rPr>
              <a:t>Happens second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14400" y="6071616"/>
            <a:ext cx="768096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9509760" y="6071616"/>
            <a:ext cx="768096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188720" y="6071616"/>
            <a:ext cx="2194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5B6670"/>
                </a:solidFill>
                <a:latin typeface="Arial"/>
              </a:rPr>
              <a:t>Example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383280" y="6071616"/>
            <a:ext cx="5029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231F20"/>
                </a:solidFill>
                <a:latin typeface="Arial"/>
              </a:rPr>
              <a:t>Showing your passport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784080" y="6071616"/>
            <a:ext cx="72237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231F20"/>
                </a:solidFill>
                <a:latin typeface="Arial"/>
              </a:rPr>
              <a:t>Boarding pass says seat 12A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14400" y="6784848"/>
            <a:ext cx="7680960" cy="713232"/>
          </a:xfrm>
          <a:prstGeom prst="rect">
            <a:avLst/>
          </a:prstGeom>
          <a:solidFill>
            <a:srgbClr val="F0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509760" y="6784848"/>
            <a:ext cx="7680960" cy="713232"/>
          </a:xfrm>
          <a:prstGeom prst="rect">
            <a:avLst/>
          </a:prstGeom>
          <a:solidFill>
            <a:srgbClr val="F0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188720" y="6784848"/>
            <a:ext cx="2194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5B6670"/>
                </a:solidFill>
                <a:latin typeface="Arial"/>
              </a:rPr>
              <a:t>If it fails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383280" y="6784848"/>
            <a:ext cx="5029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231F20"/>
                </a:solidFill>
                <a:latin typeface="Arial"/>
              </a:rPr>
              <a:t>You can't log in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784080" y="6784848"/>
            <a:ext cx="72237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231F20"/>
                </a:solidFill>
                <a:latin typeface="Arial"/>
              </a:rPr>
              <a:t>You log in, but can't reach a page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14400" y="7607808"/>
            <a:ext cx="1645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097B2"/>
                </a:solidFill>
                <a:latin typeface="Arial"/>
              </a:rPr>
              <a:t>Memory hook:  </a:t>
            </a:r>
            <a:r>
              <a:rPr sz="1500" b="0" i="0">
                <a:solidFill>
                  <a:srgbClr val="1B2A4A"/>
                </a:solidFill>
                <a:latin typeface="Arial"/>
              </a:rPr>
              <a:t>AuthentiCation = who. AuthoriZation = what.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914400" y="8183879"/>
            <a:ext cx="16459200" cy="685800"/>
          </a:xfrm>
          <a:prstGeom prst="roundRect">
            <a:avLst>
              <a:gd name="adj" fmla="val 25000"/>
            </a:avLst>
          </a:prstGeom>
          <a:solidFill>
            <a:srgbClr val="F0F6F8"/>
          </a:solidFill>
          <a:ln w="12700">
            <a:solidFill>
              <a:srgbClr val="D6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280160" y="8202167"/>
            <a:ext cx="15727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0097B2"/>
                </a:solidFill>
                <a:latin typeface="Arial"/>
              </a:rPr>
              <a:t>Learning objective:  </a:t>
            </a:r>
            <a:r>
              <a:rPr sz="1400" b="0" i="0">
                <a:solidFill>
                  <a:srgbClr val="5B6670"/>
                </a:solidFill>
                <a:latin typeface="Arial"/>
              </a:rPr>
              <a:t>Clearly separate the two ideas and never confuse them again.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/>
      <p:sp>
        <p:nvSpPr>
          <p:cNvPr id="100" name="Google Shape;100;p15"/>
          <p:cNvSpPr/>
          <p:nvPr/>
        </p:nvSpPr>
        <p:spPr>
          <a:xfrm flipH="1">
            <a:off x="15555324" y="-3181515"/>
            <a:ext cx="5235508" cy="4816668"/>
          </a:xfrm>
          <a:custGeom>
            <a:rect b="b" l="l" r="r" t="t"/>
            <a:pathLst>
              <a:path extrusionOk="0" h="4816668" w="5235508">
                <a:moveTo>
                  <a:pt x="5235508" y="0"/>
                </a:moveTo>
                <a:lnTo>
                  <a:pt x="0" y="0"/>
                </a:lnTo>
                <a:lnTo>
                  <a:pt x="0" y="4816668"/>
                </a:lnTo>
                <a:lnTo>
                  <a:pt x="5235508" y="4816668"/>
                </a:lnTo>
                <a:lnTo>
                  <a:pt x="5235508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5"/>
          <p:cNvSpPr/>
          <p:nvPr/>
        </p:nvSpPr>
        <p:spPr>
          <a:xfrm flipH="1" rot="10800000">
            <a:off x="-2629894" y="8208196"/>
            <a:ext cx="4804367" cy="4420017"/>
          </a:xfrm>
          <a:custGeom>
            <a:rect b="b" l="l" r="r" t="t"/>
            <a:pathLst>
              <a:path extrusionOk="0" h="4420017" w="4804367">
                <a:moveTo>
                  <a:pt x="0" y="4420017"/>
                </a:moveTo>
                <a:lnTo>
                  <a:pt x="4804367" y="4420017"/>
                </a:lnTo>
                <a:lnTo>
                  <a:pt x="4804367" y="0"/>
                </a:lnTo>
                <a:lnTo>
                  <a:pt x="0" y="0"/>
                </a:lnTo>
                <a:lnTo>
                  <a:pt x="0" y="4420017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15"/>
          <p:cNvSpPr/>
          <p:nvPr/>
        </p:nvSpPr>
        <p:spPr>
          <a:xfrm flipH="1">
            <a:off x="1831869" y="977232"/>
            <a:ext cx="3838597" cy="475026"/>
          </a:xfrm>
          <a:custGeom>
            <a:rect b="b" l="l" r="r" t="t"/>
            <a:pathLst>
              <a:path extrusionOk="0" h="475026" w="3838597">
                <a:moveTo>
                  <a:pt x="3838597" y="0"/>
                </a:moveTo>
                <a:lnTo>
                  <a:pt x="0" y="0"/>
                </a:lnTo>
                <a:lnTo>
                  <a:pt x="0" y="475027"/>
                </a:lnTo>
                <a:lnTo>
                  <a:pt x="3838597" y="475027"/>
                </a:lnTo>
                <a:lnTo>
                  <a:pt x="3838597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15"/>
          <p:cNvSpPr/>
          <p:nvPr/>
        </p:nvSpPr>
        <p:spPr>
          <a:xfrm>
            <a:off x="523496" y="161269"/>
            <a:ext cx="1650977" cy="1650977"/>
          </a:xfrm>
          <a:custGeom>
            <a:rect b="b" l="l" r="r" t="t"/>
            <a:pathLst>
              <a:path extrusionOk="0" h="1650977" w="1650977">
                <a:moveTo>
                  <a:pt x="0" y="0"/>
                </a:moveTo>
                <a:lnTo>
                  <a:pt x="1650977" y="0"/>
                </a:lnTo>
                <a:lnTo>
                  <a:pt x="1650977" y="1650977"/>
                </a:lnTo>
                <a:lnTo>
                  <a:pt x="0" y="16509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4" name="Google Shape;104;p15"/>
          <p:cNvCxnSpPr/>
          <p:nvPr/>
        </p:nvCxnSpPr>
        <p:spPr>
          <a:xfrm flipH="1" rot="10800000">
            <a:off x="221475" y="2940071"/>
            <a:ext cx="38100" cy="4571700"/>
          </a:xfrm>
          <a:prstGeom prst="straightConnector1">
            <a:avLst/>
          </a:prstGeom>
          <a:noFill/>
          <a:ln cap="flat" cmpd="sng" w="38100">
            <a:solidFill>
              <a:srgbClr val="0097B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5" name="Google Shape;105;p15"/>
          <p:cNvCxnSpPr/>
          <p:nvPr/>
        </p:nvCxnSpPr>
        <p:spPr>
          <a:xfrm flipH="1" rot="10800000">
            <a:off x="17998751" y="2940096"/>
            <a:ext cx="38100" cy="4571700"/>
          </a:xfrm>
          <a:prstGeom prst="straightConnector1">
            <a:avLst/>
          </a:prstGeom>
          <a:noFill/>
          <a:ln cap="flat" cmpd="sng" w="38100">
            <a:solidFill>
              <a:srgbClr val="0097B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06" name="TextBox 105"/>
          <p:cNvSpPr txBox="1"/>
          <p:nvPr/>
        </p:nvSpPr>
        <p:spPr>
          <a:xfrm>
            <a:off x="914400" y="1371599"/>
            <a:ext cx="1645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97B2"/>
                </a:solidFill>
                <a:latin typeface="Arial"/>
              </a:rPr>
              <a:t>MODULE 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4400" y="1874519"/>
            <a:ext cx="1645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700" b="1" i="0">
                <a:solidFill>
                  <a:srgbClr val="231F20"/>
                </a:solidFill>
                <a:latin typeface="Arial"/>
              </a:rPr>
              <a:t>Users, Roles &amp; Permissions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14400" y="3154680"/>
            <a:ext cx="502920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9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14400" y="3154680"/>
            <a:ext cx="5029200" cy="731520"/>
          </a:xfrm>
          <a:prstGeom prst="rect">
            <a:avLst/>
          </a:prstGeom>
          <a:solidFill>
            <a:srgbClr val="009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USER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234440" y="4069080"/>
            <a:ext cx="4389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231F20"/>
                </a:solidFill>
                <a:latin typeface="Arial"/>
              </a:rPr>
              <a:t>A single person with an account.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234440" y="5120640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0097B2"/>
                </a:solidFill>
                <a:latin typeface="Arial"/>
              </a:rPr>
              <a:t>e.g. </a:t>
            </a:r>
            <a:r>
              <a:rPr sz="1300" b="0" i="0">
                <a:solidFill>
                  <a:srgbClr val="5B6670"/>
                </a:solidFill>
                <a:latin typeface="Arial"/>
              </a:rPr>
              <a:t>Grace, Mr. Musa, Pastor John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629400" y="3154680"/>
            <a:ext cx="502920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629400" y="3154680"/>
            <a:ext cx="5029200" cy="7315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ROLE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949440" y="4069080"/>
            <a:ext cx="4389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231F20"/>
                </a:solidFill>
                <a:latin typeface="Arial"/>
              </a:rPr>
              <a:t>A job title that groups people.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49440" y="5120640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Arial"/>
              </a:rPr>
              <a:t>e.g. </a:t>
            </a:r>
            <a:r>
              <a:rPr sz="1300" b="0" i="0">
                <a:solidFill>
                  <a:srgbClr val="5B6670"/>
                </a:solidFill>
                <a:latin typeface="Arial"/>
              </a:rPr>
              <a:t>Admin, Teacher, Student, Cashier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2344400" y="3154680"/>
            <a:ext cx="502920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C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2344400" y="3154680"/>
            <a:ext cx="5029200" cy="731520"/>
          </a:xfrm>
          <a:prstGeom prst="rect">
            <a:avLst/>
          </a:prstGeom>
          <a:solidFill>
            <a:srgbClr val="00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PERMISSION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2664440" y="4069080"/>
            <a:ext cx="4389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231F20"/>
                </a:solidFill>
                <a:latin typeface="Arial"/>
              </a:rPr>
              <a:t>One specific action that's allowed.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2664440" y="5120640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00C8B4"/>
                </a:solidFill>
                <a:latin typeface="Arial"/>
              </a:rPr>
              <a:t>e.g. </a:t>
            </a:r>
            <a:r>
              <a:rPr sz="1300" b="0" i="0">
                <a:solidFill>
                  <a:srgbClr val="5B6670"/>
                </a:solidFill>
                <a:latin typeface="Arial"/>
              </a:rPr>
              <a:t>‘Edit grades’, ‘Delete member’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14400" y="6263640"/>
            <a:ext cx="1645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1" i="0">
                <a:solidFill>
                  <a:srgbClr val="0097B2"/>
                </a:solidFill>
                <a:latin typeface="Arial"/>
              </a:rPr>
              <a:t>How they connect:  </a:t>
            </a:r>
            <a:r>
              <a:rPr sz="1700" b="0" i="0">
                <a:solidFill>
                  <a:srgbClr val="231F20"/>
                </a:solidFill>
                <a:latin typeface="Arial"/>
              </a:rPr>
              <a:t>A user is given a role. A role carries a set of permissions. So instead of setting rights person-by-person, we just say ‘this person is a Teacher.’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914400" y="8183879"/>
            <a:ext cx="16459200" cy="685800"/>
          </a:xfrm>
          <a:prstGeom prst="roundRect">
            <a:avLst>
              <a:gd name="adj" fmla="val 25000"/>
            </a:avLst>
          </a:prstGeom>
          <a:solidFill>
            <a:srgbClr val="F0F6F8"/>
          </a:solidFill>
          <a:ln w="12700">
            <a:solidFill>
              <a:srgbClr val="D6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280160" y="8202167"/>
            <a:ext cx="15727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0097B2"/>
                </a:solidFill>
                <a:latin typeface="Arial"/>
              </a:rPr>
              <a:t>Learning objective:  </a:t>
            </a:r>
            <a:r>
              <a:rPr sz="1400" b="0" i="0">
                <a:solidFill>
                  <a:srgbClr val="5B6670"/>
                </a:solidFill>
                <a:latin typeface="Arial"/>
              </a:rPr>
              <a:t>Understand how users, roles and permissions fit together.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/>
      <p:sp>
        <p:nvSpPr>
          <p:cNvPr id="100" name="Google Shape;100;p15"/>
          <p:cNvSpPr/>
          <p:nvPr/>
        </p:nvSpPr>
        <p:spPr>
          <a:xfrm flipH="1">
            <a:off x="15555324" y="-3181515"/>
            <a:ext cx="5235508" cy="4816668"/>
          </a:xfrm>
          <a:custGeom>
            <a:rect b="b" l="l" r="r" t="t"/>
            <a:pathLst>
              <a:path extrusionOk="0" h="4816668" w="5235508">
                <a:moveTo>
                  <a:pt x="5235508" y="0"/>
                </a:moveTo>
                <a:lnTo>
                  <a:pt x="0" y="0"/>
                </a:lnTo>
                <a:lnTo>
                  <a:pt x="0" y="4816668"/>
                </a:lnTo>
                <a:lnTo>
                  <a:pt x="5235508" y="4816668"/>
                </a:lnTo>
                <a:lnTo>
                  <a:pt x="5235508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5"/>
          <p:cNvSpPr/>
          <p:nvPr/>
        </p:nvSpPr>
        <p:spPr>
          <a:xfrm flipH="1" rot="10800000">
            <a:off x="-2629894" y="8208196"/>
            <a:ext cx="4804367" cy="4420017"/>
          </a:xfrm>
          <a:custGeom>
            <a:rect b="b" l="l" r="r" t="t"/>
            <a:pathLst>
              <a:path extrusionOk="0" h="4420017" w="4804367">
                <a:moveTo>
                  <a:pt x="0" y="4420017"/>
                </a:moveTo>
                <a:lnTo>
                  <a:pt x="4804367" y="4420017"/>
                </a:lnTo>
                <a:lnTo>
                  <a:pt x="4804367" y="0"/>
                </a:lnTo>
                <a:lnTo>
                  <a:pt x="0" y="0"/>
                </a:lnTo>
                <a:lnTo>
                  <a:pt x="0" y="4420017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15"/>
          <p:cNvSpPr/>
          <p:nvPr/>
        </p:nvSpPr>
        <p:spPr>
          <a:xfrm flipH="1">
            <a:off x="1831869" y="977232"/>
            <a:ext cx="3838597" cy="475026"/>
          </a:xfrm>
          <a:custGeom>
            <a:rect b="b" l="l" r="r" t="t"/>
            <a:pathLst>
              <a:path extrusionOk="0" h="475026" w="3838597">
                <a:moveTo>
                  <a:pt x="3838597" y="0"/>
                </a:moveTo>
                <a:lnTo>
                  <a:pt x="0" y="0"/>
                </a:lnTo>
                <a:lnTo>
                  <a:pt x="0" y="475027"/>
                </a:lnTo>
                <a:lnTo>
                  <a:pt x="3838597" y="475027"/>
                </a:lnTo>
                <a:lnTo>
                  <a:pt x="3838597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15"/>
          <p:cNvSpPr/>
          <p:nvPr/>
        </p:nvSpPr>
        <p:spPr>
          <a:xfrm>
            <a:off x="523496" y="161269"/>
            <a:ext cx="1650977" cy="1650977"/>
          </a:xfrm>
          <a:custGeom>
            <a:rect b="b" l="l" r="r" t="t"/>
            <a:pathLst>
              <a:path extrusionOk="0" h="1650977" w="1650977">
                <a:moveTo>
                  <a:pt x="0" y="0"/>
                </a:moveTo>
                <a:lnTo>
                  <a:pt x="1650977" y="0"/>
                </a:lnTo>
                <a:lnTo>
                  <a:pt x="1650977" y="1650977"/>
                </a:lnTo>
                <a:lnTo>
                  <a:pt x="0" y="16509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4" name="Google Shape;104;p15"/>
          <p:cNvCxnSpPr/>
          <p:nvPr/>
        </p:nvCxnSpPr>
        <p:spPr>
          <a:xfrm flipH="1" rot="10800000">
            <a:off x="221475" y="2940071"/>
            <a:ext cx="38100" cy="4571700"/>
          </a:xfrm>
          <a:prstGeom prst="straightConnector1">
            <a:avLst/>
          </a:prstGeom>
          <a:noFill/>
          <a:ln cap="flat" cmpd="sng" w="38100">
            <a:solidFill>
              <a:srgbClr val="0097B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5" name="Google Shape;105;p15"/>
          <p:cNvCxnSpPr/>
          <p:nvPr/>
        </p:nvCxnSpPr>
        <p:spPr>
          <a:xfrm flipH="1" rot="10800000">
            <a:off x="17998751" y="2940096"/>
            <a:ext cx="38100" cy="4571700"/>
          </a:xfrm>
          <a:prstGeom prst="straightConnector1">
            <a:avLst/>
          </a:prstGeom>
          <a:noFill/>
          <a:ln cap="flat" cmpd="sng" w="38100">
            <a:solidFill>
              <a:srgbClr val="0097B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06" name="TextBox 105"/>
          <p:cNvSpPr txBox="1"/>
          <p:nvPr/>
        </p:nvSpPr>
        <p:spPr>
          <a:xfrm>
            <a:off x="914400" y="1371599"/>
            <a:ext cx="1645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97B2"/>
                </a:solidFill>
                <a:latin typeface="Arial"/>
              </a:rPr>
              <a:t>MODULE 9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4400" y="1874519"/>
            <a:ext cx="1645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700" b="1" i="0">
                <a:solidFill>
                  <a:srgbClr val="231F20"/>
                </a:solidFill>
                <a:latin typeface="Arial"/>
              </a:rPr>
              <a:t>The Authentication Flow</a:t>
            </a:r>
          </a:p>
        </p:txBody>
      </p:sp>
      <p:sp>
        <p:nvSpPr>
          <p:cNvPr id="108" name="Oval 107"/>
          <p:cNvSpPr/>
          <p:nvPr/>
        </p:nvSpPr>
        <p:spPr>
          <a:xfrm>
            <a:off x="2697480" y="3154680"/>
            <a:ext cx="731520" cy="731520"/>
          </a:xfrm>
          <a:prstGeom prst="ellipse">
            <a:avLst/>
          </a:prstGeom>
          <a:solidFill>
            <a:srgbClr val="009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2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3840480" y="3063240"/>
            <a:ext cx="10607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009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206240" y="3081528"/>
            <a:ext cx="42062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231F20"/>
                </a:solidFill>
                <a:latin typeface="Arial"/>
              </a:rPr>
              <a:t>User arrives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595360" y="3081528"/>
            <a:ext cx="5577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5B6670"/>
                </a:solidFill>
                <a:latin typeface="Arial"/>
              </a:rPr>
              <a:t>Someone opens the app and wants in.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9144000" y="3977639"/>
            <a:ext cx="0" cy="301753"/>
          </a:xfrm>
          <a:prstGeom prst="line">
            <a:avLst/>
          </a:prstGeom>
          <a:ln w="31750">
            <a:solidFill>
              <a:srgbClr val="5B6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Oval 112"/>
          <p:cNvSpPr/>
          <p:nvPr/>
        </p:nvSpPr>
        <p:spPr>
          <a:xfrm>
            <a:off x="2697480" y="4370831"/>
            <a:ext cx="731520" cy="731520"/>
          </a:xfrm>
          <a:prstGeom prst="ellipse">
            <a:avLst/>
          </a:prstGeom>
          <a:solidFill>
            <a:srgbClr val="009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2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3840480" y="4279392"/>
            <a:ext cx="10607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009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206240" y="4297679"/>
            <a:ext cx="42062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231F20"/>
                </a:solidFill>
                <a:latin typeface="Arial"/>
              </a:rPr>
              <a:t>Enters login details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595360" y="4297679"/>
            <a:ext cx="5577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5B6670"/>
                </a:solidFill>
                <a:latin typeface="Arial"/>
              </a:rPr>
              <a:t>They type their email and password.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9144000" y="5193792"/>
            <a:ext cx="0" cy="301752"/>
          </a:xfrm>
          <a:prstGeom prst="line">
            <a:avLst/>
          </a:prstGeom>
          <a:ln w="31750">
            <a:solidFill>
              <a:srgbClr val="5B6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2697480" y="5586983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2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3840480" y="5495544"/>
            <a:ext cx="10607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206240" y="5513831"/>
            <a:ext cx="42062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231F20"/>
                </a:solidFill>
                <a:latin typeface="Arial"/>
              </a:rPr>
              <a:t>Identity verified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595360" y="5513831"/>
            <a:ext cx="5577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5B6670"/>
                </a:solidFill>
                <a:latin typeface="Arial"/>
              </a:rPr>
              <a:t>The app checks the details are correct.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9144000" y="6409944"/>
            <a:ext cx="0" cy="301752"/>
          </a:xfrm>
          <a:prstGeom prst="line">
            <a:avLst/>
          </a:prstGeom>
          <a:ln w="31750">
            <a:solidFill>
              <a:srgbClr val="5B6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Oval 122"/>
          <p:cNvSpPr/>
          <p:nvPr/>
        </p:nvSpPr>
        <p:spPr>
          <a:xfrm>
            <a:off x="2697480" y="6803136"/>
            <a:ext cx="731520" cy="731520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2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3840480" y="6711696"/>
            <a:ext cx="10607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1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206240" y="6729983"/>
            <a:ext cx="42062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231F20"/>
                </a:solidFill>
                <a:latin typeface="Arial"/>
              </a:rPr>
              <a:t>User recognised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595360" y="6729983"/>
            <a:ext cx="5577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5B6670"/>
                </a:solidFill>
                <a:latin typeface="Arial"/>
              </a:rPr>
              <a:t>The app now knows who they are.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914400" y="8183879"/>
            <a:ext cx="16459200" cy="685800"/>
          </a:xfrm>
          <a:prstGeom prst="roundRect">
            <a:avLst>
              <a:gd name="adj" fmla="val 25000"/>
            </a:avLst>
          </a:prstGeom>
          <a:solidFill>
            <a:srgbClr val="F0F6F8"/>
          </a:solidFill>
          <a:ln w="12700">
            <a:solidFill>
              <a:srgbClr val="D6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280160" y="8202167"/>
            <a:ext cx="15727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0097B2"/>
                </a:solidFill>
                <a:latin typeface="Arial"/>
              </a:rPr>
              <a:t>Learning objective:  </a:t>
            </a:r>
            <a:r>
              <a:rPr sz="1400" b="0" i="0">
                <a:solidFill>
                  <a:srgbClr val="5B6670"/>
                </a:solidFill>
                <a:latin typeface="Arial"/>
              </a:rPr>
              <a:t>Trace the journey from arriving to being recognised.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/>
      <p:sp>
        <p:nvSpPr>
          <p:cNvPr id="100" name="Google Shape;100;p15"/>
          <p:cNvSpPr/>
          <p:nvPr/>
        </p:nvSpPr>
        <p:spPr>
          <a:xfrm flipH="1">
            <a:off x="15555324" y="-3181515"/>
            <a:ext cx="5235508" cy="4816668"/>
          </a:xfrm>
          <a:custGeom>
            <a:rect b="b" l="l" r="r" t="t"/>
            <a:pathLst>
              <a:path extrusionOk="0" h="4816668" w="5235508">
                <a:moveTo>
                  <a:pt x="5235508" y="0"/>
                </a:moveTo>
                <a:lnTo>
                  <a:pt x="0" y="0"/>
                </a:lnTo>
                <a:lnTo>
                  <a:pt x="0" y="4816668"/>
                </a:lnTo>
                <a:lnTo>
                  <a:pt x="5235508" y="4816668"/>
                </a:lnTo>
                <a:lnTo>
                  <a:pt x="5235508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5"/>
          <p:cNvSpPr/>
          <p:nvPr/>
        </p:nvSpPr>
        <p:spPr>
          <a:xfrm flipH="1" rot="10800000">
            <a:off x="-2629894" y="8208196"/>
            <a:ext cx="4804367" cy="4420017"/>
          </a:xfrm>
          <a:custGeom>
            <a:rect b="b" l="l" r="r" t="t"/>
            <a:pathLst>
              <a:path extrusionOk="0" h="4420017" w="4804367">
                <a:moveTo>
                  <a:pt x="0" y="4420017"/>
                </a:moveTo>
                <a:lnTo>
                  <a:pt x="4804367" y="4420017"/>
                </a:lnTo>
                <a:lnTo>
                  <a:pt x="4804367" y="0"/>
                </a:lnTo>
                <a:lnTo>
                  <a:pt x="0" y="0"/>
                </a:lnTo>
                <a:lnTo>
                  <a:pt x="0" y="4420017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15"/>
          <p:cNvSpPr/>
          <p:nvPr/>
        </p:nvSpPr>
        <p:spPr>
          <a:xfrm flipH="1">
            <a:off x="1831869" y="977232"/>
            <a:ext cx="3838597" cy="475026"/>
          </a:xfrm>
          <a:custGeom>
            <a:rect b="b" l="l" r="r" t="t"/>
            <a:pathLst>
              <a:path extrusionOk="0" h="475026" w="3838597">
                <a:moveTo>
                  <a:pt x="3838597" y="0"/>
                </a:moveTo>
                <a:lnTo>
                  <a:pt x="0" y="0"/>
                </a:lnTo>
                <a:lnTo>
                  <a:pt x="0" y="475027"/>
                </a:lnTo>
                <a:lnTo>
                  <a:pt x="3838597" y="475027"/>
                </a:lnTo>
                <a:lnTo>
                  <a:pt x="3838597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15"/>
          <p:cNvSpPr/>
          <p:nvPr/>
        </p:nvSpPr>
        <p:spPr>
          <a:xfrm>
            <a:off x="523496" y="161269"/>
            <a:ext cx="1650977" cy="1650977"/>
          </a:xfrm>
          <a:custGeom>
            <a:rect b="b" l="l" r="r" t="t"/>
            <a:pathLst>
              <a:path extrusionOk="0" h="1650977" w="1650977">
                <a:moveTo>
                  <a:pt x="0" y="0"/>
                </a:moveTo>
                <a:lnTo>
                  <a:pt x="1650977" y="0"/>
                </a:lnTo>
                <a:lnTo>
                  <a:pt x="1650977" y="1650977"/>
                </a:lnTo>
                <a:lnTo>
                  <a:pt x="0" y="16509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4" name="Google Shape;104;p15"/>
          <p:cNvCxnSpPr/>
          <p:nvPr/>
        </p:nvCxnSpPr>
        <p:spPr>
          <a:xfrm flipH="1" rot="10800000">
            <a:off x="221475" y="2940071"/>
            <a:ext cx="38100" cy="4571700"/>
          </a:xfrm>
          <a:prstGeom prst="straightConnector1">
            <a:avLst/>
          </a:prstGeom>
          <a:noFill/>
          <a:ln cap="flat" cmpd="sng" w="38100">
            <a:solidFill>
              <a:srgbClr val="0097B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5" name="Google Shape;105;p15"/>
          <p:cNvCxnSpPr/>
          <p:nvPr/>
        </p:nvCxnSpPr>
        <p:spPr>
          <a:xfrm flipH="1" rot="10800000">
            <a:off x="17998751" y="2940096"/>
            <a:ext cx="38100" cy="4571700"/>
          </a:xfrm>
          <a:prstGeom prst="straightConnector1">
            <a:avLst/>
          </a:prstGeom>
          <a:noFill/>
          <a:ln cap="flat" cmpd="sng" w="38100">
            <a:solidFill>
              <a:srgbClr val="0097B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06" name="TextBox 105"/>
          <p:cNvSpPr txBox="1"/>
          <p:nvPr/>
        </p:nvSpPr>
        <p:spPr>
          <a:xfrm>
            <a:off x="914400" y="1371599"/>
            <a:ext cx="1645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97B2"/>
                </a:solidFill>
                <a:latin typeface="Arial"/>
              </a:rPr>
              <a:t>MODULE 10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4400" y="1874519"/>
            <a:ext cx="1645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700" b="1" i="0">
                <a:solidFill>
                  <a:srgbClr val="231F20"/>
                </a:solidFill>
                <a:latin typeface="Arial"/>
              </a:rPr>
              <a:t>The Authorization Flow</a:t>
            </a:r>
          </a:p>
        </p:txBody>
      </p:sp>
      <p:sp>
        <p:nvSpPr>
          <p:cNvPr id="108" name="Oval 107"/>
          <p:cNvSpPr/>
          <p:nvPr/>
        </p:nvSpPr>
        <p:spPr>
          <a:xfrm>
            <a:off x="2697480" y="3086100"/>
            <a:ext cx="731520" cy="731520"/>
          </a:xfrm>
          <a:prstGeom prst="ellipse">
            <a:avLst/>
          </a:prstGeom>
          <a:solidFill>
            <a:srgbClr val="009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2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3840480" y="3017520"/>
            <a:ext cx="106070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009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206240" y="3035808"/>
            <a:ext cx="44805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231F20"/>
                </a:solidFill>
                <a:latin typeface="Arial"/>
              </a:rPr>
              <a:t>Authenticated user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869680" y="3035808"/>
            <a:ext cx="53035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5B6670"/>
                </a:solidFill>
                <a:latin typeface="Arial"/>
              </a:rPr>
              <a:t>We already know who this person is.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9144000" y="3886200"/>
            <a:ext cx="0" cy="292608"/>
          </a:xfrm>
          <a:prstGeom prst="line">
            <a:avLst/>
          </a:prstGeom>
          <a:ln w="31750">
            <a:solidFill>
              <a:srgbClr val="5B6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Oval 112"/>
          <p:cNvSpPr/>
          <p:nvPr/>
        </p:nvSpPr>
        <p:spPr>
          <a:xfrm>
            <a:off x="2697480" y="4247388"/>
            <a:ext cx="731520" cy="731520"/>
          </a:xfrm>
          <a:prstGeom prst="ellipse">
            <a:avLst/>
          </a:prstGeom>
          <a:solidFill>
            <a:srgbClr val="009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2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3840480" y="4178808"/>
            <a:ext cx="106070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009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206240" y="4197096"/>
            <a:ext cx="44805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231F20"/>
                </a:solidFill>
                <a:latin typeface="Arial"/>
              </a:rPr>
              <a:t>Requests a resource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869680" y="4197096"/>
            <a:ext cx="53035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5B6670"/>
                </a:solidFill>
                <a:latin typeface="Arial"/>
              </a:rPr>
              <a:t>They try to open a page or take an action.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9144000" y="5047488"/>
            <a:ext cx="0" cy="292608"/>
          </a:xfrm>
          <a:prstGeom prst="line">
            <a:avLst/>
          </a:prstGeom>
          <a:ln w="31750">
            <a:solidFill>
              <a:srgbClr val="5B6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2697480" y="5408675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2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3840480" y="5340096"/>
            <a:ext cx="106070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206240" y="5358383"/>
            <a:ext cx="44805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231F20"/>
                </a:solidFill>
                <a:latin typeface="Arial"/>
              </a:rPr>
              <a:t>Permission check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869680" y="5358383"/>
            <a:ext cx="53035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5B6670"/>
                </a:solidFill>
                <a:latin typeface="Arial"/>
              </a:rPr>
              <a:t>Does this person's role allow it?</a:t>
            </a:r>
          </a:p>
        </p:txBody>
      </p:sp>
      <p:cxnSp>
        <p:nvCxnSpPr>
          <p:cNvPr id="122" name="Connector 121"/>
          <p:cNvCxnSpPr/>
          <p:nvPr/>
        </p:nvCxnSpPr>
        <p:spPr>
          <a:xfrm flipH="1">
            <a:off x="6217920" y="6208776"/>
            <a:ext cx="2926080" cy="502920"/>
          </a:xfrm>
          <a:prstGeom prst="line">
            <a:avLst/>
          </a:prstGeom>
          <a:ln w="31750">
            <a:solidFill>
              <a:srgbClr val="1E8E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9144000" y="6208776"/>
            <a:ext cx="2926080" cy="502920"/>
          </a:xfrm>
          <a:prstGeom prst="line">
            <a:avLst/>
          </a:prstGeom>
          <a:ln w="3175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ounded Rectangle 123"/>
          <p:cNvSpPr/>
          <p:nvPr/>
        </p:nvSpPr>
        <p:spPr>
          <a:xfrm>
            <a:off x="3840480" y="6711696"/>
            <a:ext cx="4754880" cy="868680"/>
          </a:xfrm>
          <a:prstGeom prst="roundRect">
            <a:avLst>
              <a:gd name="adj" fmla="val 10000"/>
            </a:avLst>
          </a:prstGeom>
          <a:solidFill>
            <a:srgbClr val="1E8E5A"/>
          </a:solidFill>
          <a:ln w="22225">
            <a:solidFill>
              <a:srgbClr val="1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ALLOWED</a:t>
            </a:r>
          </a:p>
          <a:p>
            <a:pPr algn="ctr"/>
            <a:r>
              <a:rPr sz="1200" b="0" i="0">
                <a:solidFill>
                  <a:srgbClr val="E6F4EC"/>
                </a:solidFill>
                <a:latin typeface="Arial"/>
              </a:rPr>
              <a:t>Resource is delivered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9692640" y="6711696"/>
            <a:ext cx="4754880" cy="86868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 w="222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DENIED</a:t>
            </a:r>
          </a:p>
          <a:p>
            <a:pPr algn="ctr"/>
            <a:r>
              <a:rPr sz="1200" b="0" i="0">
                <a:solidFill>
                  <a:srgbClr val="F6E1DE"/>
                </a:solidFill>
                <a:latin typeface="Arial"/>
              </a:rPr>
              <a:t>Access is blocked (403)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914400" y="8183879"/>
            <a:ext cx="16459200" cy="685800"/>
          </a:xfrm>
          <a:prstGeom prst="roundRect">
            <a:avLst>
              <a:gd name="adj" fmla="val 25000"/>
            </a:avLst>
          </a:prstGeom>
          <a:solidFill>
            <a:srgbClr val="F0F6F8"/>
          </a:solidFill>
          <a:ln w="12700">
            <a:solidFill>
              <a:srgbClr val="D6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280160" y="8202167"/>
            <a:ext cx="15727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0097B2"/>
                </a:solidFill>
                <a:latin typeface="Arial"/>
              </a:rPr>
              <a:t>Learning objective:  </a:t>
            </a:r>
            <a:r>
              <a:rPr sz="1400" b="0" i="0">
                <a:solidFill>
                  <a:srgbClr val="5B6670"/>
                </a:solidFill>
                <a:latin typeface="Arial"/>
              </a:rPr>
              <a:t>Trace how an app decides allowed vs denied.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/>
      <p:sp>
        <p:nvSpPr>
          <p:cNvPr id="100" name="Google Shape;100;p15"/>
          <p:cNvSpPr/>
          <p:nvPr/>
        </p:nvSpPr>
        <p:spPr>
          <a:xfrm flipH="1">
            <a:off x="15555324" y="-3181515"/>
            <a:ext cx="5235508" cy="4816668"/>
          </a:xfrm>
          <a:custGeom>
            <a:rect b="b" l="l" r="r" t="t"/>
            <a:pathLst>
              <a:path extrusionOk="0" h="4816668" w="5235508">
                <a:moveTo>
                  <a:pt x="5235508" y="0"/>
                </a:moveTo>
                <a:lnTo>
                  <a:pt x="0" y="0"/>
                </a:lnTo>
                <a:lnTo>
                  <a:pt x="0" y="4816668"/>
                </a:lnTo>
                <a:lnTo>
                  <a:pt x="5235508" y="4816668"/>
                </a:lnTo>
                <a:lnTo>
                  <a:pt x="5235508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5"/>
          <p:cNvSpPr/>
          <p:nvPr/>
        </p:nvSpPr>
        <p:spPr>
          <a:xfrm flipH="1" rot="10800000">
            <a:off x="-2629894" y="8208196"/>
            <a:ext cx="4804367" cy="4420017"/>
          </a:xfrm>
          <a:custGeom>
            <a:rect b="b" l="l" r="r" t="t"/>
            <a:pathLst>
              <a:path extrusionOk="0" h="4420017" w="4804367">
                <a:moveTo>
                  <a:pt x="0" y="4420017"/>
                </a:moveTo>
                <a:lnTo>
                  <a:pt x="4804367" y="4420017"/>
                </a:lnTo>
                <a:lnTo>
                  <a:pt x="4804367" y="0"/>
                </a:lnTo>
                <a:lnTo>
                  <a:pt x="0" y="0"/>
                </a:lnTo>
                <a:lnTo>
                  <a:pt x="0" y="4420017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15"/>
          <p:cNvSpPr/>
          <p:nvPr/>
        </p:nvSpPr>
        <p:spPr>
          <a:xfrm flipH="1">
            <a:off x="1831869" y="977232"/>
            <a:ext cx="3838597" cy="475026"/>
          </a:xfrm>
          <a:custGeom>
            <a:rect b="b" l="l" r="r" t="t"/>
            <a:pathLst>
              <a:path extrusionOk="0" h="475026" w="3838597">
                <a:moveTo>
                  <a:pt x="3838597" y="0"/>
                </a:moveTo>
                <a:lnTo>
                  <a:pt x="0" y="0"/>
                </a:lnTo>
                <a:lnTo>
                  <a:pt x="0" y="475027"/>
                </a:lnTo>
                <a:lnTo>
                  <a:pt x="3838597" y="475027"/>
                </a:lnTo>
                <a:lnTo>
                  <a:pt x="3838597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15"/>
          <p:cNvSpPr/>
          <p:nvPr/>
        </p:nvSpPr>
        <p:spPr>
          <a:xfrm>
            <a:off x="523496" y="161269"/>
            <a:ext cx="1650977" cy="1650977"/>
          </a:xfrm>
          <a:custGeom>
            <a:rect b="b" l="l" r="r" t="t"/>
            <a:pathLst>
              <a:path extrusionOk="0" h="1650977" w="1650977">
                <a:moveTo>
                  <a:pt x="0" y="0"/>
                </a:moveTo>
                <a:lnTo>
                  <a:pt x="1650977" y="0"/>
                </a:lnTo>
                <a:lnTo>
                  <a:pt x="1650977" y="1650977"/>
                </a:lnTo>
                <a:lnTo>
                  <a:pt x="0" y="16509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4" name="Google Shape;104;p15"/>
          <p:cNvCxnSpPr/>
          <p:nvPr/>
        </p:nvCxnSpPr>
        <p:spPr>
          <a:xfrm flipH="1" rot="10800000">
            <a:off x="221475" y="2940071"/>
            <a:ext cx="38100" cy="4571700"/>
          </a:xfrm>
          <a:prstGeom prst="straightConnector1">
            <a:avLst/>
          </a:prstGeom>
          <a:noFill/>
          <a:ln cap="flat" cmpd="sng" w="38100">
            <a:solidFill>
              <a:srgbClr val="0097B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5" name="Google Shape;105;p15"/>
          <p:cNvCxnSpPr/>
          <p:nvPr/>
        </p:nvCxnSpPr>
        <p:spPr>
          <a:xfrm flipH="1" rot="10800000">
            <a:off x="17998751" y="2940096"/>
            <a:ext cx="38100" cy="4571700"/>
          </a:xfrm>
          <a:prstGeom prst="straightConnector1">
            <a:avLst/>
          </a:prstGeom>
          <a:noFill/>
          <a:ln cap="flat" cmpd="sng" w="38100">
            <a:solidFill>
              <a:srgbClr val="0097B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06" name="TextBox 105"/>
          <p:cNvSpPr txBox="1"/>
          <p:nvPr/>
        </p:nvSpPr>
        <p:spPr>
          <a:xfrm>
            <a:off x="914400" y="1371599"/>
            <a:ext cx="1645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97B2"/>
                </a:solidFill>
                <a:latin typeface="Arial"/>
              </a:rPr>
              <a:t>MODULE 11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4400" y="1874519"/>
            <a:ext cx="1645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700" b="1" i="0">
                <a:solidFill>
                  <a:srgbClr val="231F20"/>
                </a:solidFill>
                <a:latin typeface="Arial"/>
              </a:rPr>
              <a:t>Common Security Mistakes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14400" y="3474720"/>
            <a:ext cx="502920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EAD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143000" y="3703320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920240" y="3730752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231F20"/>
                </a:solidFill>
                <a:latin typeface="Arial"/>
              </a:rPr>
              <a:t>Sharing passwords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234440" y="4407408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5B6670"/>
                </a:solidFill>
                <a:latin typeface="Arial"/>
              </a:rPr>
              <a:t>A secret shared is no longer a secret.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629400" y="3474720"/>
            <a:ext cx="502920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EAD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6858000" y="3703320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635240" y="3730752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231F20"/>
                </a:solidFill>
                <a:latin typeface="Arial"/>
              </a:rPr>
              <a:t>Weak passwords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49440" y="4407408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5B6670"/>
                </a:solidFill>
                <a:latin typeface="Arial"/>
              </a:rPr>
              <a:t>‘12345’ is guessed in seconds.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2344400" y="3474720"/>
            <a:ext cx="502920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EAD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2573000" y="3703320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3350240" y="3730752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231F20"/>
                </a:solidFill>
                <a:latin typeface="Arial"/>
              </a:rPr>
              <a:t>Reusing passwords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2664440" y="4407408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5B6670"/>
                </a:solidFill>
                <a:latin typeface="Arial"/>
              </a:rPr>
              <a:t>One breach unlocks all your accounts.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914400" y="5623560"/>
            <a:ext cx="502920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EAD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143000" y="5852160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920240" y="5879592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231F20"/>
                </a:solidFill>
                <a:latin typeface="Arial"/>
              </a:rPr>
              <a:t>Everyone is admin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234440" y="6556248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5B6670"/>
                </a:solidFill>
                <a:latin typeface="Arial"/>
              </a:rPr>
              <a:t>One wrong click can wipe everything.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6629400" y="5623560"/>
            <a:ext cx="502920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EAD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6858000" y="5852160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635240" y="5879592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231F20"/>
                </a:solidFill>
                <a:latin typeface="Arial"/>
              </a:rPr>
              <a:t>Forgetting to log out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949440" y="6556248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5B6670"/>
                </a:solidFill>
                <a:latin typeface="Arial"/>
              </a:rPr>
              <a:t>The next person inherits your access.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12344400" y="5623560"/>
            <a:ext cx="502920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EAD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2573000" y="5852160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3350240" y="5879592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231F20"/>
                </a:solidFill>
                <a:latin typeface="Arial"/>
              </a:rPr>
              <a:t>Clicking suspicious links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2664440" y="6556248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5B6670"/>
                </a:solidFill>
                <a:latin typeface="Arial"/>
              </a:rPr>
              <a:t>The classic way accounts get stolen.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914400" y="8183879"/>
            <a:ext cx="16459200" cy="685800"/>
          </a:xfrm>
          <a:prstGeom prst="roundRect">
            <a:avLst>
              <a:gd name="adj" fmla="val 25000"/>
            </a:avLst>
          </a:prstGeom>
          <a:solidFill>
            <a:srgbClr val="F0F6F8"/>
          </a:solidFill>
          <a:ln w="12700">
            <a:solidFill>
              <a:srgbClr val="D6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280160" y="8202167"/>
            <a:ext cx="15727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0097B2"/>
                </a:solidFill>
                <a:latin typeface="Arial"/>
              </a:rPr>
              <a:t>Learning objective:  </a:t>
            </a:r>
            <a:r>
              <a:rPr sz="1400" b="0" i="0">
                <a:solidFill>
                  <a:srgbClr val="5B6670"/>
                </a:solidFill>
                <a:latin typeface="Arial"/>
              </a:rPr>
              <a:t>Recognise the everyday habits that break security.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/>
      <p:sp>
        <p:nvSpPr>
          <p:cNvPr id="100" name="Google Shape;100;p15"/>
          <p:cNvSpPr/>
          <p:nvPr/>
        </p:nvSpPr>
        <p:spPr>
          <a:xfrm flipH="1">
            <a:off x="15555324" y="-3181515"/>
            <a:ext cx="5235508" cy="4816668"/>
          </a:xfrm>
          <a:custGeom>
            <a:rect b="b" l="l" r="r" t="t"/>
            <a:pathLst>
              <a:path extrusionOk="0" h="4816668" w="5235508">
                <a:moveTo>
                  <a:pt x="5235508" y="0"/>
                </a:moveTo>
                <a:lnTo>
                  <a:pt x="0" y="0"/>
                </a:lnTo>
                <a:lnTo>
                  <a:pt x="0" y="4816668"/>
                </a:lnTo>
                <a:lnTo>
                  <a:pt x="5235508" y="4816668"/>
                </a:lnTo>
                <a:lnTo>
                  <a:pt x="5235508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5"/>
          <p:cNvSpPr/>
          <p:nvPr/>
        </p:nvSpPr>
        <p:spPr>
          <a:xfrm flipH="1" rot="10800000">
            <a:off x="-2629894" y="8208196"/>
            <a:ext cx="4804367" cy="4420017"/>
          </a:xfrm>
          <a:custGeom>
            <a:rect b="b" l="l" r="r" t="t"/>
            <a:pathLst>
              <a:path extrusionOk="0" h="4420017" w="4804367">
                <a:moveTo>
                  <a:pt x="0" y="4420017"/>
                </a:moveTo>
                <a:lnTo>
                  <a:pt x="4804367" y="4420017"/>
                </a:lnTo>
                <a:lnTo>
                  <a:pt x="4804367" y="0"/>
                </a:lnTo>
                <a:lnTo>
                  <a:pt x="0" y="0"/>
                </a:lnTo>
                <a:lnTo>
                  <a:pt x="0" y="4420017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15"/>
          <p:cNvSpPr/>
          <p:nvPr/>
        </p:nvSpPr>
        <p:spPr>
          <a:xfrm flipH="1">
            <a:off x="1831869" y="977232"/>
            <a:ext cx="3838597" cy="475026"/>
          </a:xfrm>
          <a:custGeom>
            <a:rect b="b" l="l" r="r" t="t"/>
            <a:pathLst>
              <a:path extrusionOk="0" h="475026" w="3838597">
                <a:moveTo>
                  <a:pt x="3838597" y="0"/>
                </a:moveTo>
                <a:lnTo>
                  <a:pt x="0" y="0"/>
                </a:lnTo>
                <a:lnTo>
                  <a:pt x="0" y="475027"/>
                </a:lnTo>
                <a:lnTo>
                  <a:pt x="3838597" y="475027"/>
                </a:lnTo>
                <a:lnTo>
                  <a:pt x="3838597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15"/>
          <p:cNvSpPr/>
          <p:nvPr/>
        </p:nvSpPr>
        <p:spPr>
          <a:xfrm>
            <a:off x="523496" y="161269"/>
            <a:ext cx="1650977" cy="1650977"/>
          </a:xfrm>
          <a:custGeom>
            <a:rect b="b" l="l" r="r" t="t"/>
            <a:pathLst>
              <a:path extrusionOk="0" h="1650977" w="1650977">
                <a:moveTo>
                  <a:pt x="0" y="0"/>
                </a:moveTo>
                <a:lnTo>
                  <a:pt x="1650977" y="0"/>
                </a:lnTo>
                <a:lnTo>
                  <a:pt x="1650977" y="1650977"/>
                </a:lnTo>
                <a:lnTo>
                  <a:pt x="0" y="16509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4" name="Google Shape;104;p15"/>
          <p:cNvCxnSpPr/>
          <p:nvPr/>
        </p:nvCxnSpPr>
        <p:spPr>
          <a:xfrm flipH="1" rot="10800000">
            <a:off x="221475" y="2940071"/>
            <a:ext cx="38100" cy="4571700"/>
          </a:xfrm>
          <a:prstGeom prst="straightConnector1">
            <a:avLst/>
          </a:prstGeom>
          <a:noFill/>
          <a:ln cap="flat" cmpd="sng" w="38100">
            <a:solidFill>
              <a:srgbClr val="0097B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5" name="Google Shape;105;p15"/>
          <p:cNvCxnSpPr/>
          <p:nvPr/>
        </p:nvCxnSpPr>
        <p:spPr>
          <a:xfrm flipH="1" rot="10800000">
            <a:off x="17998751" y="2940096"/>
            <a:ext cx="38100" cy="4571700"/>
          </a:xfrm>
          <a:prstGeom prst="straightConnector1">
            <a:avLst/>
          </a:prstGeom>
          <a:noFill/>
          <a:ln cap="flat" cmpd="sng" w="38100">
            <a:solidFill>
              <a:srgbClr val="0097B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06" name="TextBox 105"/>
          <p:cNvSpPr txBox="1"/>
          <p:nvPr/>
        </p:nvSpPr>
        <p:spPr>
          <a:xfrm>
            <a:off x="914400" y="1371599"/>
            <a:ext cx="1645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97B2"/>
                </a:solidFill>
                <a:latin typeface="Arial"/>
              </a:rPr>
              <a:t>MODULE 12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4400" y="1874519"/>
            <a:ext cx="1645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700" b="1" i="0">
                <a:solidFill>
                  <a:srgbClr val="231F20"/>
                </a:solidFill>
                <a:latin typeface="Arial"/>
              </a:rPr>
              <a:t>Industry Best Practices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14400" y="3474720"/>
            <a:ext cx="502920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143000" y="3703320"/>
            <a:ext cx="640080" cy="640080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920240" y="3730752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231F20"/>
                </a:solidFill>
                <a:latin typeface="Arial"/>
              </a:rPr>
              <a:t>Least privilege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234440" y="4407408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5B6670"/>
                </a:solidFill>
                <a:latin typeface="Arial"/>
              </a:rPr>
              <a:t>Give each person the minimum access they need — nothing extra.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629400" y="3474720"/>
            <a:ext cx="502920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6858000" y="3703320"/>
            <a:ext cx="640080" cy="640080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635240" y="3730752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231F20"/>
                </a:solidFill>
                <a:latin typeface="Arial"/>
              </a:rPr>
              <a:t>Strong passwords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49440" y="4407408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5B6670"/>
                </a:solidFill>
                <a:latin typeface="Arial"/>
              </a:rPr>
              <a:t>Long, mixed, hard to guess. Length beats complexity.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2344400" y="3474720"/>
            <a:ext cx="502920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2573000" y="3703320"/>
            <a:ext cx="640080" cy="640080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3350240" y="3730752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231F20"/>
                </a:solidFill>
                <a:latin typeface="Arial"/>
              </a:rPr>
              <a:t>Multi-Factor Auth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2664440" y="4407408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5B6670"/>
                </a:solidFill>
                <a:latin typeface="Arial"/>
              </a:rPr>
              <a:t>A password plus a second proof stops most attacks.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914400" y="5623560"/>
            <a:ext cx="502920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143000" y="5852160"/>
            <a:ext cx="640080" cy="640080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920240" y="5879592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231F20"/>
                </a:solidFill>
                <a:latin typeface="Arial"/>
              </a:rPr>
              <a:t>Safe password storage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234440" y="6556248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5B6670"/>
                </a:solidFill>
                <a:latin typeface="Arial"/>
              </a:rPr>
              <a:t>Systems never store your raw password (concept for now).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6629400" y="5623560"/>
            <a:ext cx="502920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6858000" y="5852160"/>
            <a:ext cx="640080" cy="640080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635240" y="5879592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231F20"/>
                </a:solidFill>
                <a:latin typeface="Arial"/>
              </a:rPr>
              <a:t>Regular password changes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949440" y="6556248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5B6670"/>
                </a:solidFill>
                <a:latin typeface="Arial"/>
              </a:rPr>
              <a:t>Rotate secrets so old leaks stop being useful.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12344400" y="5623560"/>
            <a:ext cx="502920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2573000" y="5852160"/>
            <a:ext cx="640080" cy="640080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3350240" y="5879592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231F20"/>
                </a:solidFill>
                <a:latin typeface="Arial"/>
              </a:rPr>
              <a:t>Logging &amp; monitoring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2664440" y="6556248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5B6670"/>
                </a:solidFill>
                <a:latin typeface="Arial"/>
              </a:rPr>
              <a:t>Keep a record so you can spot trouble early.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914400" y="8183879"/>
            <a:ext cx="16459200" cy="685800"/>
          </a:xfrm>
          <a:prstGeom prst="roundRect">
            <a:avLst>
              <a:gd name="adj" fmla="val 25000"/>
            </a:avLst>
          </a:prstGeom>
          <a:solidFill>
            <a:srgbClr val="F0F6F8"/>
          </a:solidFill>
          <a:ln w="12700">
            <a:solidFill>
              <a:srgbClr val="D6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280160" y="8202167"/>
            <a:ext cx="15727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0097B2"/>
                </a:solidFill>
                <a:latin typeface="Arial"/>
              </a:rPr>
              <a:t>Learning objective:  </a:t>
            </a:r>
            <a:r>
              <a:rPr sz="1400" b="0" i="0">
                <a:solidFill>
                  <a:srgbClr val="5B6670"/>
                </a:solidFill>
                <a:latin typeface="Arial"/>
              </a:rPr>
              <a:t>Adopt the habits professionals rely on to stay secure.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/>
      <p:sp>
        <p:nvSpPr>
          <p:cNvPr id="100" name="Google Shape;100;p15"/>
          <p:cNvSpPr/>
          <p:nvPr/>
        </p:nvSpPr>
        <p:spPr>
          <a:xfrm flipH="1">
            <a:off x="15555324" y="-3181515"/>
            <a:ext cx="5235508" cy="4816668"/>
          </a:xfrm>
          <a:custGeom>
            <a:rect b="b" l="l" r="r" t="t"/>
            <a:pathLst>
              <a:path extrusionOk="0" h="4816668" w="5235508">
                <a:moveTo>
                  <a:pt x="5235508" y="0"/>
                </a:moveTo>
                <a:lnTo>
                  <a:pt x="0" y="0"/>
                </a:lnTo>
                <a:lnTo>
                  <a:pt x="0" y="4816668"/>
                </a:lnTo>
                <a:lnTo>
                  <a:pt x="5235508" y="4816668"/>
                </a:lnTo>
                <a:lnTo>
                  <a:pt x="5235508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5"/>
          <p:cNvSpPr/>
          <p:nvPr/>
        </p:nvSpPr>
        <p:spPr>
          <a:xfrm flipH="1" rot="10800000">
            <a:off x="-2629894" y="8208196"/>
            <a:ext cx="4804367" cy="4420017"/>
          </a:xfrm>
          <a:custGeom>
            <a:rect b="b" l="l" r="r" t="t"/>
            <a:pathLst>
              <a:path extrusionOk="0" h="4420017" w="4804367">
                <a:moveTo>
                  <a:pt x="0" y="4420017"/>
                </a:moveTo>
                <a:lnTo>
                  <a:pt x="4804367" y="4420017"/>
                </a:lnTo>
                <a:lnTo>
                  <a:pt x="4804367" y="0"/>
                </a:lnTo>
                <a:lnTo>
                  <a:pt x="0" y="0"/>
                </a:lnTo>
                <a:lnTo>
                  <a:pt x="0" y="4420017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15"/>
          <p:cNvSpPr/>
          <p:nvPr/>
        </p:nvSpPr>
        <p:spPr>
          <a:xfrm flipH="1">
            <a:off x="1831869" y="977232"/>
            <a:ext cx="3838597" cy="475026"/>
          </a:xfrm>
          <a:custGeom>
            <a:rect b="b" l="l" r="r" t="t"/>
            <a:pathLst>
              <a:path extrusionOk="0" h="475026" w="3838597">
                <a:moveTo>
                  <a:pt x="3838597" y="0"/>
                </a:moveTo>
                <a:lnTo>
                  <a:pt x="0" y="0"/>
                </a:lnTo>
                <a:lnTo>
                  <a:pt x="0" y="475027"/>
                </a:lnTo>
                <a:lnTo>
                  <a:pt x="3838597" y="475027"/>
                </a:lnTo>
                <a:lnTo>
                  <a:pt x="3838597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15"/>
          <p:cNvSpPr/>
          <p:nvPr/>
        </p:nvSpPr>
        <p:spPr>
          <a:xfrm>
            <a:off x="523496" y="161269"/>
            <a:ext cx="1650977" cy="1650977"/>
          </a:xfrm>
          <a:custGeom>
            <a:rect b="b" l="l" r="r" t="t"/>
            <a:pathLst>
              <a:path extrusionOk="0" h="1650977" w="1650977">
                <a:moveTo>
                  <a:pt x="0" y="0"/>
                </a:moveTo>
                <a:lnTo>
                  <a:pt x="1650977" y="0"/>
                </a:lnTo>
                <a:lnTo>
                  <a:pt x="1650977" y="1650977"/>
                </a:lnTo>
                <a:lnTo>
                  <a:pt x="0" y="16509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4" name="Google Shape;104;p15"/>
          <p:cNvCxnSpPr/>
          <p:nvPr/>
        </p:nvCxnSpPr>
        <p:spPr>
          <a:xfrm flipH="1" rot="10800000">
            <a:off x="221475" y="2940071"/>
            <a:ext cx="38100" cy="4571700"/>
          </a:xfrm>
          <a:prstGeom prst="straightConnector1">
            <a:avLst/>
          </a:prstGeom>
          <a:noFill/>
          <a:ln cap="flat" cmpd="sng" w="38100">
            <a:solidFill>
              <a:srgbClr val="0097B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5" name="Google Shape;105;p15"/>
          <p:cNvCxnSpPr/>
          <p:nvPr/>
        </p:nvCxnSpPr>
        <p:spPr>
          <a:xfrm flipH="1" rot="10800000">
            <a:off x="17998751" y="2940096"/>
            <a:ext cx="38100" cy="4571700"/>
          </a:xfrm>
          <a:prstGeom prst="straightConnector1">
            <a:avLst/>
          </a:prstGeom>
          <a:noFill/>
          <a:ln cap="flat" cmpd="sng" w="38100">
            <a:solidFill>
              <a:srgbClr val="0097B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06" name="TextBox 105"/>
          <p:cNvSpPr txBox="1"/>
          <p:nvPr/>
        </p:nvSpPr>
        <p:spPr>
          <a:xfrm>
            <a:off x="914400" y="1371599"/>
            <a:ext cx="1645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97B2"/>
                </a:solidFill>
                <a:latin typeface="Arial"/>
              </a:rPr>
              <a:t>MODULE 13 · ACTIVITY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4400" y="1874519"/>
            <a:ext cx="1645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700" b="1" i="0">
                <a:solidFill>
                  <a:srgbClr val="231F20"/>
                </a:solidFill>
                <a:latin typeface="Arial"/>
              </a:rPr>
              <a:t>Your Turn: Design the Access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14400" y="3154680"/>
            <a:ext cx="1645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 i="0">
                <a:solidFill>
                  <a:srgbClr val="231F20"/>
                </a:solidFill>
                <a:latin typeface="Arial"/>
              </a:rPr>
              <a:t>A school management system has four people. Work in pairs and decide the access for each.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14400" y="4160520"/>
            <a:ext cx="3794760" cy="1280160"/>
          </a:xfrm>
          <a:prstGeom prst="roundRect">
            <a:avLst>
              <a:gd name="adj" fmla="val 10000"/>
            </a:avLst>
          </a:prstGeom>
          <a:solidFill>
            <a:srgbClr val="0097B2"/>
          </a:solidFill>
          <a:ln w="22225">
            <a:solidFill>
              <a:srgbClr val="009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Student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135880" y="4160520"/>
            <a:ext cx="3794760" cy="1280160"/>
          </a:xfrm>
          <a:prstGeom prst="roundRect">
            <a:avLst>
              <a:gd name="adj" fmla="val 10000"/>
            </a:avLst>
          </a:prstGeom>
          <a:solidFill>
            <a:srgbClr val="0097B2"/>
          </a:solidFill>
          <a:ln w="22225">
            <a:solidFill>
              <a:srgbClr val="009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Teacher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9357360" y="4160520"/>
            <a:ext cx="3794760" cy="128016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2222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Principal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3578839" y="4160520"/>
            <a:ext cx="3794760" cy="128016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2222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Accountant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14400" y="5806440"/>
            <a:ext cx="1645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97B2"/>
                </a:solidFill>
                <a:latin typeface="Arial"/>
              </a:rPr>
              <a:t>Answer these three questions: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14400" y="6400800"/>
            <a:ext cx="164592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0097B2"/>
              </a:buClr>
              <a:buSzPct val="90000"/>
              <a:buFont typeface="Arial"/>
              <a:buChar char="●"/>
            </a:pPr>
            <a:r>
              <a:rPr sz="1800">
                <a:solidFill>
                  <a:srgbClr val="231F20"/>
                </a:solidFill>
                <a:latin typeface="Arial"/>
              </a:rPr>
              <a:t>Who needs to authenticate (log in) at all?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0097B2"/>
              </a:buClr>
              <a:buSzPct val="90000"/>
              <a:buFont typeface="Arial"/>
              <a:buChar char="●"/>
            </a:pPr>
            <a:r>
              <a:rPr sz="1800">
                <a:solidFill>
                  <a:srgbClr val="231F20"/>
                </a:solidFill>
                <a:latin typeface="Arial"/>
              </a:rPr>
              <a:t>What role should each person be given?</a:t>
            </a:r>
          </a:p>
          <a:p>
            <a:pPr marL="256032" indent="-256032">
              <a:lnSpc>
                <a:spcPct val="115000"/>
              </a:lnSpc>
              <a:spcAft>
                <a:spcPts val="1400"/>
              </a:spcAft>
              <a:buClr>
                <a:srgbClr val="0097B2"/>
              </a:buClr>
              <a:buSzPct val="90000"/>
              <a:buFont typeface="Arial"/>
              <a:buChar char="●"/>
            </a:pPr>
            <a:r>
              <a:rPr sz="1800">
                <a:solidFill>
                  <a:srgbClr val="231F20"/>
                </a:solidFill>
                <a:latin typeface="Arial"/>
              </a:rPr>
              <a:t>What actions should each role be allowed — and denied?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914400" y="8183879"/>
            <a:ext cx="16459200" cy="685800"/>
          </a:xfrm>
          <a:prstGeom prst="roundRect">
            <a:avLst>
              <a:gd name="adj" fmla="val 25000"/>
            </a:avLst>
          </a:prstGeom>
          <a:solidFill>
            <a:srgbClr val="F0F6F8"/>
          </a:solidFill>
          <a:ln w="12700">
            <a:solidFill>
              <a:srgbClr val="D6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280160" y="8202167"/>
            <a:ext cx="15727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0097B2"/>
                </a:solidFill>
                <a:latin typeface="Arial"/>
              </a:rPr>
              <a:t>Learning objective:  </a:t>
            </a:r>
            <a:r>
              <a:rPr sz="1400" b="0" i="0">
                <a:solidFill>
                  <a:srgbClr val="5B6670"/>
                </a:solidFill>
                <a:latin typeface="Arial"/>
              </a:rPr>
              <a:t>Apply roles and permissions to a realistic scenario.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/>
      <p:sp>
        <p:nvSpPr>
          <p:cNvPr id="100" name="Google Shape;100;p15"/>
          <p:cNvSpPr/>
          <p:nvPr/>
        </p:nvSpPr>
        <p:spPr>
          <a:xfrm flipH="1">
            <a:off x="15555324" y="-3181515"/>
            <a:ext cx="5235508" cy="4816668"/>
          </a:xfrm>
          <a:custGeom>
            <a:rect b="b" l="l" r="r" t="t"/>
            <a:pathLst>
              <a:path extrusionOk="0" h="4816668" w="5235508">
                <a:moveTo>
                  <a:pt x="5235508" y="0"/>
                </a:moveTo>
                <a:lnTo>
                  <a:pt x="0" y="0"/>
                </a:lnTo>
                <a:lnTo>
                  <a:pt x="0" y="4816668"/>
                </a:lnTo>
                <a:lnTo>
                  <a:pt x="5235508" y="4816668"/>
                </a:lnTo>
                <a:lnTo>
                  <a:pt x="5235508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5"/>
          <p:cNvSpPr/>
          <p:nvPr/>
        </p:nvSpPr>
        <p:spPr>
          <a:xfrm flipH="1" rot="10800000">
            <a:off x="-2629894" y="8208196"/>
            <a:ext cx="4804367" cy="4420017"/>
          </a:xfrm>
          <a:custGeom>
            <a:rect b="b" l="l" r="r" t="t"/>
            <a:pathLst>
              <a:path extrusionOk="0" h="4420017" w="4804367">
                <a:moveTo>
                  <a:pt x="0" y="4420017"/>
                </a:moveTo>
                <a:lnTo>
                  <a:pt x="4804367" y="4420017"/>
                </a:lnTo>
                <a:lnTo>
                  <a:pt x="4804367" y="0"/>
                </a:lnTo>
                <a:lnTo>
                  <a:pt x="0" y="0"/>
                </a:lnTo>
                <a:lnTo>
                  <a:pt x="0" y="4420017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15"/>
          <p:cNvSpPr/>
          <p:nvPr/>
        </p:nvSpPr>
        <p:spPr>
          <a:xfrm flipH="1">
            <a:off x="1831869" y="977232"/>
            <a:ext cx="3838597" cy="475026"/>
          </a:xfrm>
          <a:custGeom>
            <a:rect b="b" l="l" r="r" t="t"/>
            <a:pathLst>
              <a:path extrusionOk="0" h="475026" w="3838597">
                <a:moveTo>
                  <a:pt x="3838597" y="0"/>
                </a:moveTo>
                <a:lnTo>
                  <a:pt x="0" y="0"/>
                </a:lnTo>
                <a:lnTo>
                  <a:pt x="0" y="475027"/>
                </a:lnTo>
                <a:lnTo>
                  <a:pt x="3838597" y="475027"/>
                </a:lnTo>
                <a:lnTo>
                  <a:pt x="3838597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15"/>
          <p:cNvSpPr/>
          <p:nvPr/>
        </p:nvSpPr>
        <p:spPr>
          <a:xfrm>
            <a:off x="523496" y="161269"/>
            <a:ext cx="1650977" cy="1650977"/>
          </a:xfrm>
          <a:custGeom>
            <a:rect b="b" l="l" r="r" t="t"/>
            <a:pathLst>
              <a:path extrusionOk="0" h="1650977" w="1650977">
                <a:moveTo>
                  <a:pt x="0" y="0"/>
                </a:moveTo>
                <a:lnTo>
                  <a:pt x="1650977" y="0"/>
                </a:lnTo>
                <a:lnTo>
                  <a:pt x="1650977" y="1650977"/>
                </a:lnTo>
                <a:lnTo>
                  <a:pt x="0" y="16509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4" name="Google Shape;104;p15"/>
          <p:cNvCxnSpPr/>
          <p:nvPr/>
        </p:nvCxnSpPr>
        <p:spPr>
          <a:xfrm flipH="1" rot="10800000">
            <a:off x="221475" y="2940071"/>
            <a:ext cx="38100" cy="4571700"/>
          </a:xfrm>
          <a:prstGeom prst="straightConnector1">
            <a:avLst/>
          </a:prstGeom>
          <a:noFill/>
          <a:ln cap="flat" cmpd="sng" w="38100">
            <a:solidFill>
              <a:srgbClr val="0097B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5" name="Google Shape;105;p15"/>
          <p:cNvCxnSpPr/>
          <p:nvPr/>
        </p:nvCxnSpPr>
        <p:spPr>
          <a:xfrm flipH="1" rot="10800000">
            <a:off x="17998751" y="2940096"/>
            <a:ext cx="38100" cy="4571700"/>
          </a:xfrm>
          <a:prstGeom prst="straightConnector1">
            <a:avLst/>
          </a:prstGeom>
          <a:noFill/>
          <a:ln cap="flat" cmpd="sng" w="38100">
            <a:solidFill>
              <a:srgbClr val="0097B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06" name="TextBox 105"/>
          <p:cNvSpPr txBox="1"/>
          <p:nvPr/>
        </p:nvSpPr>
        <p:spPr>
          <a:xfrm>
            <a:off x="914400" y="1371599"/>
            <a:ext cx="1645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97B2"/>
                </a:solidFill>
                <a:latin typeface="Arial"/>
              </a:rPr>
              <a:t>MODULE 14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4400" y="1874519"/>
            <a:ext cx="1645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700" b="1" i="0">
                <a:solidFill>
                  <a:srgbClr val="231F20"/>
                </a:solidFill>
                <a:latin typeface="Arial"/>
              </a:rPr>
              <a:t>Recap — The Big Picture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14400" y="3474720"/>
            <a:ext cx="3794760" cy="1600200"/>
          </a:xfrm>
          <a:prstGeom prst="roundRect">
            <a:avLst>
              <a:gd name="adj" fmla="val 7000"/>
            </a:avLst>
          </a:prstGeom>
          <a:solidFill>
            <a:srgbClr val="F0F6F8"/>
          </a:solidFill>
          <a:ln w="12700">
            <a:solidFill>
              <a:srgbClr val="D6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88720" y="3675888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097B2"/>
                </a:solidFill>
                <a:latin typeface="Arial"/>
              </a:rPr>
              <a:t>Why security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188720" y="4133088"/>
            <a:ext cx="3246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5B6670"/>
                </a:solidFill>
                <a:latin typeface="Arial"/>
              </a:rPr>
              <a:t>Protects real people and real data.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5135880" y="3474720"/>
            <a:ext cx="3794760" cy="1600200"/>
          </a:xfrm>
          <a:prstGeom prst="roundRect">
            <a:avLst>
              <a:gd name="adj" fmla="val 7000"/>
            </a:avLst>
          </a:prstGeom>
          <a:solidFill>
            <a:srgbClr val="F0F6F8"/>
          </a:solidFill>
          <a:ln w="12700">
            <a:solidFill>
              <a:srgbClr val="D6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410199" y="3675888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097B2"/>
                </a:solidFill>
                <a:latin typeface="Arial"/>
              </a:rPr>
              <a:t>Authentication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410199" y="4133088"/>
            <a:ext cx="3246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5B6670"/>
                </a:solidFill>
                <a:latin typeface="Arial"/>
              </a:rPr>
              <a:t>Proves who you are.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9357360" y="3474720"/>
            <a:ext cx="3794760" cy="1600200"/>
          </a:xfrm>
          <a:prstGeom prst="roundRect">
            <a:avLst>
              <a:gd name="adj" fmla="val 7000"/>
            </a:avLst>
          </a:prstGeom>
          <a:solidFill>
            <a:srgbClr val="F0F6F8"/>
          </a:solidFill>
          <a:ln w="12700">
            <a:solidFill>
              <a:srgbClr val="D6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631680" y="3675888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097B2"/>
                </a:solidFill>
                <a:latin typeface="Arial"/>
              </a:rPr>
              <a:t>Authorization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631680" y="4133088"/>
            <a:ext cx="3246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5B6670"/>
                </a:solidFill>
                <a:latin typeface="Arial"/>
              </a:rPr>
              <a:t>Decides what you may do.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13578839" y="3474720"/>
            <a:ext cx="3794760" cy="1600200"/>
          </a:xfrm>
          <a:prstGeom prst="roundRect">
            <a:avLst>
              <a:gd name="adj" fmla="val 7000"/>
            </a:avLst>
          </a:prstGeom>
          <a:solidFill>
            <a:srgbClr val="F0F6F8"/>
          </a:solidFill>
          <a:ln w="12700">
            <a:solidFill>
              <a:srgbClr val="D6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3853159" y="3675888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097B2"/>
                </a:solidFill>
                <a:latin typeface="Arial"/>
              </a:rPr>
              <a:t>Users &amp; roles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3853159" y="4133088"/>
            <a:ext cx="3246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5B6670"/>
                </a:solidFill>
                <a:latin typeface="Arial"/>
              </a:rPr>
              <a:t>People grouped by job title.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914400" y="5486400"/>
            <a:ext cx="3794760" cy="1600200"/>
          </a:xfrm>
          <a:prstGeom prst="roundRect">
            <a:avLst>
              <a:gd name="adj" fmla="val 7000"/>
            </a:avLst>
          </a:prstGeom>
          <a:solidFill>
            <a:srgbClr val="F0F6F8"/>
          </a:solidFill>
          <a:ln w="12700">
            <a:solidFill>
              <a:srgbClr val="D6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188720" y="5687568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097B2"/>
                </a:solidFill>
                <a:latin typeface="Arial"/>
              </a:rPr>
              <a:t>Permissions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188720" y="6144768"/>
            <a:ext cx="3246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5B6670"/>
                </a:solidFill>
                <a:latin typeface="Arial"/>
              </a:rPr>
              <a:t>The specific actions a role allows.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135880" y="5486400"/>
            <a:ext cx="3794760" cy="1600200"/>
          </a:xfrm>
          <a:prstGeom prst="roundRect">
            <a:avLst>
              <a:gd name="adj" fmla="val 7000"/>
            </a:avLst>
          </a:prstGeom>
          <a:solidFill>
            <a:srgbClr val="F0F6F8"/>
          </a:solidFill>
          <a:ln w="12700">
            <a:solidFill>
              <a:srgbClr val="D6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410199" y="5687568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097B2"/>
                </a:solidFill>
                <a:latin typeface="Arial"/>
              </a:rPr>
              <a:t>Auth vs Authz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410199" y="6144768"/>
            <a:ext cx="3246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5B6670"/>
                </a:solidFill>
                <a:latin typeface="Arial"/>
              </a:rPr>
              <a:t>Who? then What?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9357360" y="5486400"/>
            <a:ext cx="3794760" cy="1600200"/>
          </a:xfrm>
          <a:prstGeom prst="roundRect">
            <a:avLst>
              <a:gd name="adj" fmla="val 7000"/>
            </a:avLst>
          </a:prstGeom>
          <a:solidFill>
            <a:srgbClr val="F0F6F8"/>
          </a:solidFill>
          <a:ln w="12700">
            <a:solidFill>
              <a:srgbClr val="D6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631680" y="5687568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097B2"/>
                </a:solidFill>
                <a:latin typeface="Arial"/>
              </a:rPr>
              <a:t>Common mistakes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631680" y="6144768"/>
            <a:ext cx="3246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5B6670"/>
                </a:solidFill>
                <a:latin typeface="Arial"/>
              </a:rPr>
              <a:t>Weak, shared, reused passwords; over-access.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3578839" y="5486400"/>
            <a:ext cx="3794760" cy="1600200"/>
          </a:xfrm>
          <a:prstGeom prst="roundRect">
            <a:avLst>
              <a:gd name="adj" fmla="val 7000"/>
            </a:avLst>
          </a:prstGeom>
          <a:solidFill>
            <a:srgbClr val="F0F6F8"/>
          </a:solidFill>
          <a:ln w="12700">
            <a:solidFill>
              <a:srgbClr val="D6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3853159" y="5687568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097B2"/>
                </a:solidFill>
                <a:latin typeface="Arial"/>
              </a:rPr>
              <a:t>Best practices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3853159" y="6144768"/>
            <a:ext cx="3246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5B6670"/>
                </a:solidFill>
                <a:latin typeface="Arial"/>
              </a:rPr>
              <a:t>Least privilege, MFA, monitoring.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914400" y="8183879"/>
            <a:ext cx="16459200" cy="685800"/>
          </a:xfrm>
          <a:prstGeom prst="roundRect">
            <a:avLst>
              <a:gd name="adj" fmla="val 25000"/>
            </a:avLst>
          </a:prstGeom>
          <a:solidFill>
            <a:srgbClr val="F0F6F8"/>
          </a:solidFill>
          <a:ln w="12700">
            <a:solidFill>
              <a:srgbClr val="D6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280160" y="8202167"/>
            <a:ext cx="15727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0097B2"/>
                </a:solidFill>
                <a:latin typeface="Arial"/>
              </a:rPr>
              <a:t>Learning objective:  </a:t>
            </a:r>
            <a:r>
              <a:rPr sz="1400" b="0" i="0">
                <a:solidFill>
                  <a:srgbClr val="5B6670"/>
                </a:solidFill>
                <a:latin typeface="Arial"/>
              </a:rPr>
              <a:t>Hold the whole session in one glance.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/>
      <p:sp>
        <p:nvSpPr>
          <p:cNvPr id="100" name="Google Shape;100;p15"/>
          <p:cNvSpPr/>
          <p:nvPr/>
        </p:nvSpPr>
        <p:spPr>
          <a:xfrm flipH="1">
            <a:off x="15555324" y="-3181515"/>
            <a:ext cx="5235508" cy="4816668"/>
          </a:xfrm>
          <a:custGeom>
            <a:rect b="b" l="l" r="r" t="t"/>
            <a:pathLst>
              <a:path extrusionOk="0" h="4816668" w="5235508">
                <a:moveTo>
                  <a:pt x="5235508" y="0"/>
                </a:moveTo>
                <a:lnTo>
                  <a:pt x="0" y="0"/>
                </a:lnTo>
                <a:lnTo>
                  <a:pt x="0" y="4816668"/>
                </a:lnTo>
                <a:lnTo>
                  <a:pt x="5235508" y="4816668"/>
                </a:lnTo>
                <a:lnTo>
                  <a:pt x="5235508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5"/>
          <p:cNvSpPr/>
          <p:nvPr/>
        </p:nvSpPr>
        <p:spPr>
          <a:xfrm flipH="1" rot="10800000">
            <a:off x="-2629894" y="8208196"/>
            <a:ext cx="4804367" cy="4420017"/>
          </a:xfrm>
          <a:custGeom>
            <a:rect b="b" l="l" r="r" t="t"/>
            <a:pathLst>
              <a:path extrusionOk="0" h="4420017" w="4804367">
                <a:moveTo>
                  <a:pt x="0" y="4420017"/>
                </a:moveTo>
                <a:lnTo>
                  <a:pt x="4804367" y="4420017"/>
                </a:lnTo>
                <a:lnTo>
                  <a:pt x="4804367" y="0"/>
                </a:lnTo>
                <a:lnTo>
                  <a:pt x="0" y="0"/>
                </a:lnTo>
                <a:lnTo>
                  <a:pt x="0" y="4420017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15"/>
          <p:cNvSpPr/>
          <p:nvPr/>
        </p:nvSpPr>
        <p:spPr>
          <a:xfrm flipH="1">
            <a:off x="1831869" y="977232"/>
            <a:ext cx="3838597" cy="475026"/>
          </a:xfrm>
          <a:custGeom>
            <a:rect b="b" l="l" r="r" t="t"/>
            <a:pathLst>
              <a:path extrusionOk="0" h="475026" w="3838597">
                <a:moveTo>
                  <a:pt x="3838597" y="0"/>
                </a:moveTo>
                <a:lnTo>
                  <a:pt x="0" y="0"/>
                </a:lnTo>
                <a:lnTo>
                  <a:pt x="0" y="475027"/>
                </a:lnTo>
                <a:lnTo>
                  <a:pt x="3838597" y="475027"/>
                </a:lnTo>
                <a:lnTo>
                  <a:pt x="3838597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15"/>
          <p:cNvSpPr/>
          <p:nvPr/>
        </p:nvSpPr>
        <p:spPr>
          <a:xfrm>
            <a:off x="523496" y="161269"/>
            <a:ext cx="1650977" cy="1650977"/>
          </a:xfrm>
          <a:custGeom>
            <a:rect b="b" l="l" r="r" t="t"/>
            <a:pathLst>
              <a:path extrusionOk="0" h="1650977" w="1650977">
                <a:moveTo>
                  <a:pt x="0" y="0"/>
                </a:moveTo>
                <a:lnTo>
                  <a:pt x="1650977" y="0"/>
                </a:lnTo>
                <a:lnTo>
                  <a:pt x="1650977" y="1650977"/>
                </a:lnTo>
                <a:lnTo>
                  <a:pt x="0" y="16509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4" name="Google Shape;104;p15"/>
          <p:cNvCxnSpPr/>
          <p:nvPr/>
        </p:nvCxnSpPr>
        <p:spPr>
          <a:xfrm flipH="1" rot="10800000">
            <a:off x="221475" y="2940071"/>
            <a:ext cx="38100" cy="4571700"/>
          </a:xfrm>
          <a:prstGeom prst="straightConnector1">
            <a:avLst/>
          </a:prstGeom>
          <a:noFill/>
          <a:ln cap="flat" cmpd="sng" w="38100">
            <a:solidFill>
              <a:srgbClr val="0097B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5" name="Google Shape;105;p15"/>
          <p:cNvCxnSpPr/>
          <p:nvPr/>
        </p:nvCxnSpPr>
        <p:spPr>
          <a:xfrm flipH="1" rot="10800000">
            <a:off x="17998751" y="2940096"/>
            <a:ext cx="38100" cy="4571700"/>
          </a:xfrm>
          <a:prstGeom prst="straightConnector1">
            <a:avLst/>
          </a:prstGeom>
          <a:noFill/>
          <a:ln cap="flat" cmpd="sng" w="38100">
            <a:solidFill>
              <a:srgbClr val="0097B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06" name="TextBox 105"/>
          <p:cNvSpPr txBox="1"/>
          <p:nvPr/>
        </p:nvSpPr>
        <p:spPr>
          <a:xfrm>
            <a:off x="914400" y="1371599"/>
            <a:ext cx="1645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97B2"/>
                </a:solidFill>
                <a:latin typeface="Arial"/>
              </a:rPr>
              <a:t>MODULE 15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4400" y="1874519"/>
            <a:ext cx="1645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700" b="1" i="0">
                <a:solidFill>
                  <a:srgbClr val="231F20"/>
                </a:solidFill>
                <a:latin typeface="Arial"/>
              </a:rPr>
              <a:t>Quiz &amp; Discussion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14400" y="3337560"/>
            <a:ext cx="78638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1" i="0">
                <a:solidFill>
                  <a:srgbClr val="1B2A4A"/>
                </a:solidFill>
                <a:latin typeface="Arial"/>
              </a:rPr>
              <a:t>Let's check what stuck.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231F20"/>
                </a:solidFill>
                <a:latin typeface="Arial"/>
              </a:rPr>
              <a:t>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231F20"/>
                </a:solidFill>
                <a:latin typeface="Arial"/>
              </a:rPr>
              <a:t>We'll go through: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509760" y="3429000"/>
            <a:ext cx="694944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009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9806940" y="3611879"/>
            <a:ext cx="868680" cy="868680"/>
          </a:xfrm>
          <a:prstGeom prst="ellipse">
            <a:avLst/>
          </a:prstGeom>
          <a:solidFill>
            <a:srgbClr val="009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064240" y="3447288"/>
            <a:ext cx="521208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231F20"/>
                </a:solidFill>
                <a:latin typeface="Arial"/>
              </a:rPr>
              <a:t>Multiple-choice questions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9509760" y="4892040"/>
            <a:ext cx="694944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9806940" y="5074920"/>
            <a:ext cx="868680" cy="86868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064240" y="4910327"/>
            <a:ext cx="521208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231F20"/>
                </a:solidFill>
                <a:latin typeface="Arial"/>
              </a:rPr>
              <a:t>True / False questions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9509760" y="6355079"/>
            <a:ext cx="694944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00C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9806940" y="6537959"/>
            <a:ext cx="868680" cy="868680"/>
          </a:xfrm>
          <a:prstGeom prst="ellipse">
            <a:avLst/>
          </a:prstGeom>
          <a:solidFill>
            <a:srgbClr val="00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064240" y="6373367"/>
            <a:ext cx="521208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231F20"/>
                </a:solidFill>
                <a:latin typeface="Arial"/>
              </a:rPr>
              <a:t>Discussion questions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14400" y="6263640"/>
            <a:ext cx="7863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1">
                <a:solidFill>
                  <a:srgbClr val="5B6670"/>
                </a:solidFill>
                <a:latin typeface="Arial"/>
              </a:rPr>
              <a:t>Answers are in the speaker script — don't peek!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914400" y="8183879"/>
            <a:ext cx="16459200" cy="685800"/>
          </a:xfrm>
          <a:prstGeom prst="roundRect">
            <a:avLst>
              <a:gd name="adj" fmla="val 25000"/>
            </a:avLst>
          </a:prstGeom>
          <a:solidFill>
            <a:srgbClr val="F0F6F8"/>
          </a:solidFill>
          <a:ln w="12700">
            <a:solidFill>
              <a:srgbClr val="D6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280160" y="8202167"/>
            <a:ext cx="15727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0097B2"/>
                </a:solidFill>
                <a:latin typeface="Arial"/>
              </a:rPr>
              <a:t>Learning objective:  </a:t>
            </a:r>
            <a:r>
              <a:rPr sz="1400" b="0" i="0">
                <a:solidFill>
                  <a:srgbClr val="5B6670"/>
                </a:solidFill>
                <a:latin typeface="Arial"/>
              </a:rPr>
              <a:t>Test understanding and spark discussion.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/>
      <p:sp>
        <p:nvSpPr>
          <p:cNvPr id="100" name="Google Shape;100;p15"/>
          <p:cNvSpPr/>
          <p:nvPr/>
        </p:nvSpPr>
        <p:spPr>
          <a:xfrm flipH="1">
            <a:off x="15555324" y="-3181515"/>
            <a:ext cx="5235508" cy="4816668"/>
          </a:xfrm>
          <a:custGeom>
            <a:rect b="b" l="l" r="r" t="t"/>
            <a:pathLst>
              <a:path extrusionOk="0" h="4816668" w="5235508">
                <a:moveTo>
                  <a:pt x="5235508" y="0"/>
                </a:moveTo>
                <a:lnTo>
                  <a:pt x="0" y="0"/>
                </a:lnTo>
                <a:lnTo>
                  <a:pt x="0" y="4816668"/>
                </a:lnTo>
                <a:lnTo>
                  <a:pt x="5235508" y="4816668"/>
                </a:lnTo>
                <a:lnTo>
                  <a:pt x="5235508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5"/>
          <p:cNvSpPr/>
          <p:nvPr/>
        </p:nvSpPr>
        <p:spPr>
          <a:xfrm flipH="1" rot="10800000">
            <a:off x="-2629894" y="8208196"/>
            <a:ext cx="4804367" cy="4420017"/>
          </a:xfrm>
          <a:custGeom>
            <a:rect b="b" l="l" r="r" t="t"/>
            <a:pathLst>
              <a:path extrusionOk="0" h="4420017" w="4804367">
                <a:moveTo>
                  <a:pt x="0" y="4420017"/>
                </a:moveTo>
                <a:lnTo>
                  <a:pt x="4804367" y="4420017"/>
                </a:lnTo>
                <a:lnTo>
                  <a:pt x="4804367" y="0"/>
                </a:lnTo>
                <a:lnTo>
                  <a:pt x="0" y="0"/>
                </a:lnTo>
                <a:lnTo>
                  <a:pt x="0" y="4420017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15"/>
          <p:cNvSpPr/>
          <p:nvPr/>
        </p:nvSpPr>
        <p:spPr>
          <a:xfrm flipH="1">
            <a:off x="1831869" y="977232"/>
            <a:ext cx="3838597" cy="475026"/>
          </a:xfrm>
          <a:custGeom>
            <a:rect b="b" l="l" r="r" t="t"/>
            <a:pathLst>
              <a:path extrusionOk="0" h="475026" w="3838597">
                <a:moveTo>
                  <a:pt x="3838597" y="0"/>
                </a:moveTo>
                <a:lnTo>
                  <a:pt x="0" y="0"/>
                </a:lnTo>
                <a:lnTo>
                  <a:pt x="0" y="475027"/>
                </a:lnTo>
                <a:lnTo>
                  <a:pt x="3838597" y="475027"/>
                </a:lnTo>
                <a:lnTo>
                  <a:pt x="3838597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15"/>
          <p:cNvSpPr/>
          <p:nvPr/>
        </p:nvSpPr>
        <p:spPr>
          <a:xfrm>
            <a:off x="523496" y="161269"/>
            <a:ext cx="1650977" cy="1650977"/>
          </a:xfrm>
          <a:custGeom>
            <a:rect b="b" l="l" r="r" t="t"/>
            <a:pathLst>
              <a:path extrusionOk="0" h="1650977" w="1650977">
                <a:moveTo>
                  <a:pt x="0" y="0"/>
                </a:moveTo>
                <a:lnTo>
                  <a:pt x="1650977" y="0"/>
                </a:lnTo>
                <a:lnTo>
                  <a:pt x="1650977" y="1650977"/>
                </a:lnTo>
                <a:lnTo>
                  <a:pt x="0" y="16509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4" name="Google Shape;104;p15"/>
          <p:cNvCxnSpPr/>
          <p:nvPr/>
        </p:nvCxnSpPr>
        <p:spPr>
          <a:xfrm flipH="1" rot="10800000">
            <a:off x="221475" y="2940071"/>
            <a:ext cx="38100" cy="4571700"/>
          </a:xfrm>
          <a:prstGeom prst="straightConnector1">
            <a:avLst/>
          </a:prstGeom>
          <a:noFill/>
          <a:ln cap="flat" cmpd="sng" w="38100">
            <a:solidFill>
              <a:srgbClr val="0097B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5" name="Google Shape;105;p15"/>
          <p:cNvCxnSpPr/>
          <p:nvPr/>
        </p:nvCxnSpPr>
        <p:spPr>
          <a:xfrm flipH="1" rot="10800000">
            <a:off x="17998751" y="2940096"/>
            <a:ext cx="38100" cy="4571700"/>
          </a:xfrm>
          <a:prstGeom prst="straightConnector1">
            <a:avLst/>
          </a:prstGeom>
          <a:noFill/>
          <a:ln cap="flat" cmpd="sng" w="38100">
            <a:solidFill>
              <a:srgbClr val="0097B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06" name="TextBox 105"/>
          <p:cNvSpPr txBox="1"/>
          <p:nvPr/>
        </p:nvSpPr>
        <p:spPr>
          <a:xfrm>
            <a:off x="914400" y="1371599"/>
            <a:ext cx="1645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97B2"/>
                </a:solidFill>
                <a:latin typeface="Arial"/>
              </a:rPr>
              <a:t>QUIZ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4400" y="1874519"/>
            <a:ext cx="1645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 i="0">
                <a:solidFill>
                  <a:srgbClr val="231F20"/>
                </a:solidFill>
                <a:latin typeface="Arial"/>
              </a:rPr>
              <a:t>Multiple Choice (1–5)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14400" y="2834640"/>
            <a:ext cx="1645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231F20"/>
                </a:solidFill>
                <a:latin typeface="Arial"/>
              </a:rPr>
              <a:t>1. Authentication answers…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280160" y="3291840"/>
            <a:ext cx="1609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5B6670"/>
                </a:solidFill>
                <a:latin typeface="Arial"/>
              </a:rPr>
              <a:t>a) What can you do?   b) Who are you?   c) Where are you?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14400" y="3858768"/>
            <a:ext cx="1645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231F20"/>
                </a:solidFill>
                <a:latin typeface="Arial"/>
              </a:rPr>
              <a:t>2. Authorization happens…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280160" y="4315968"/>
            <a:ext cx="1609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5B6670"/>
                </a:solidFill>
                <a:latin typeface="Arial"/>
              </a:rPr>
              <a:t>a) Before authentication   b) After authentication   c) Never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14400" y="4882896"/>
            <a:ext cx="1645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231F20"/>
                </a:solidFill>
                <a:latin typeface="Arial"/>
              </a:rPr>
              <a:t>3. A role is best described as…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280160" y="5340096"/>
            <a:ext cx="1609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5B6670"/>
                </a:solidFill>
                <a:latin typeface="Arial"/>
              </a:rPr>
              <a:t>a) A single action   b) A job title grouping rights   c) A password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14400" y="5907024"/>
            <a:ext cx="1645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231F20"/>
                </a:solidFill>
                <a:latin typeface="Arial"/>
              </a:rPr>
              <a:t>4. Which is the STRONGEST sign-in?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280160" y="6364224"/>
            <a:ext cx="1609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5B6670"/>
                </a:solidFill>
                <a:latin typeface="Arial"/>
              </a:rPr>
              <a:t>a) Password only   b) OTP only   c) Password + phone code (MFA)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14400" y="6931152"/>
            <a:ext cx="1645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231F20"/>
                </a:solidFill>
                <a:latin typeface="Arial"/>
              </a:rPr>
              <a:t>5. ‘Least privilege’ means…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280160" y="7388352"/>
            <a:ext cx="1609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5B6670"/>
                </a:solidFill>
                <a:latin typeface="Arial"/>
              </a:rPr>
              <a:t>a) Give everyone admin   b) Give the minimum access needed   c) No access for anyone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/>
      <p:sp>
        <p:nvSpPr>
          <p:cNvPr id="100" name="Google Shape;100;p15"/>
          <p:cNvSpPr/>
          <p:nvPr/>
        </p:nvSpPr>
        <p:spPr>
          <a:xfrm flipH="1">
            <a:off x="15555324" y="-3181515"/>
            <a:ext cx="5235508" cy="4816668"/>
          </a:xfrm>
          <a:custGeom>
            <a:rect b="b" l="l" r="r" t="t"/>
            <a:pathLst>
              <a:path extrusionOk="0" h="4816668" w="5235508">
                <a:moveTo>
                  <a:pt x="5235508" y="0"/>
                </a:moveTo>
                <a:lnTo>
                  <a:pt x="0" y="0"/>
                </a:lnTo>
                <a:lnTo>
                  <a:pt x="0" y="4816668"/>
                </a:lnTo>
                <a:lnTo>
                  <a:pt x="5235508" y="4816668"/>
                </a:lnTo>
                <a:lnTo>
                  <a:pt x="5235508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5"/>
          <p:cNvSpPr/>
          <p:nvPr/>
        </p:nvSpPr>
        <p:spPr>
          <a:xfrm flipH="1" rot="10800000">
            <a:off x="-2629894" y="8208196"/>
            <a:ext cx="4804367" cy="4420017"/>
          </a:xfrm>
          <a:custGeom>
            <a:rect b="b" l="l" r="r" t="t"/>
            <a:pathLst>
              <a:path extrusionOk="0" h="4420017" w="4804367">
                <a:moveTo>
                  <a:pt x="0" y="4420017"/>
                </a:moveTo>
                <a:lnTo>
                  <a:pt x="4804367" y="4420017"/>
                </a:lnTo>
                <a:lnTo>
                  <a:pt x="4804367" y="0"/>
                </a:lnTo>
                <a:lnTo>
                  <a:pt x="0" y="0"/>
                </a:lnTo>
                <a:lnTo>
                  <a:pt x="0" y="4420017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15"/>
          <p:cNvSpPr/>
          <p:nvPr/>
        </p:nvSpPr>
        <p:spPr>
          <a:xfrm flipH="1">
            <a:off x="1831869" y="977232"/>
            <a:ext cx="3838597" cy="475026"/>
          </a:xfrm>
          <a:custGeom>
            <a:rect b="b" l="l" r="r" t="t"/>
            <a:pathLst>
              <a:path extrusionOk="0" h="475026" w="3838597">
                <a:moveTo>
                  <a:pt x="3838597" y="0"/>
                </a:moveTo>
                <a:lnTo>
                  <a:pt x="0" y="0"/>
                </a:lnTo>
                <a:lnTo>
                  <a:pt x="0" y="475027"/>
                </a:lnTo>
                <a:lnTo>
                  <a:pt x="3838597" y="475027"/>
                </a:lnTo>
                <a:lnTo>
                  <a:pt x="3838597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15"/>
          <p:cNvSpPr/>
          <p:nvPr/>
        </p:nvSpPr>
        <p:spPr>
          <a:xfrm>
            <a:off x="523496" y="161269"/>
            <a:ext cx="1650977" cy="1650977"/>
          </a:xfrm>
          <a:custGeom>
            <a:rect b="b" l="l" r="r" t="t"/>
            <a:pathLst>
              <a:path extrusionOk="0" h="1650977" w="1650977">
                <a:moveTo>
                  <a:pt x="0" y="0"/>
                </a:moveTo>
                <a:lnTo>
                  <a:pt x="1650977" y="0"/>
                </a:lnTo>
                <a:lnTo>
                  <a:pt x="1650977" y="1650977"/>
                </a:lnTo>
                <a:lnTo>
                  <a:pt x="0" y="16509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4" name="Google Shape;104;p15"/>
          <p:cNvCxnSpPr/>
          <p:nvPr/>
        </p:nvCxnSpPr>
        <p:spPr>
          <a:xfrm flipH="1" rot="10800000">
            <a:off x="221475" y="2940071"/>
            <a:ext cx="38100" cy="4571700"/>
          </a:xfrm>
          <a:prstGeom prst="straightConnector1">
            <a:avLst/>
          </a:prstGeom>
          <a:noFill/>
          <a:ln cap="flat" cmpd="sng" w="38100">
            <a:solidFill>
              <a:srgbClr val="0097B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5" name="Google Shape;105;p15"/>
          <p:cNvCxnSpPr/>
          <p:nvPr/>
        </p:nvCxnSpPr>
        <p:spPr>
          <a:xfrm flipH="1" rot="10800000">
            <a:off x="17998751" y="2940096"/>
            <a:ext cx="38100" cy="4571700"/>
          </a:xfrm>
          <a:prstGeom prst="straightConnector1">
            <a:avLst/>
          </a:prstGeom>
          <a:noFill/>
          <a:ln cap="flat" cmpd="sng" w="38100">
            <a:solidFill>
              <a:srgbClr val="0097B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06" name="TextBox 105"/>
          <p:cNvSpPr txBox="1"/>
          <p:nvPr/>
        </p:nvSpPr>
        <p:spPr>
          <a:xfrm>
            <a:off x="914400" y="1371599"/>
            <a:ext cx="1645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97B2"/>
                </a:solidFill>
                <a:latin typeface="Arial"/>
              </a:rPr>
              <a:t>QUIZ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4400" y="1874519"/>
            <a:ext cx="1645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 i="0">
                <a:solidFill>
                  <a:srgbClr val="231F20"/>
                </a:solidFill>
                <a:latin typeface="Arial"/>
              </a:rPr>
              <a:t>Multiple Choice (6–10)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14400" y="2834640"/>
            <a:ext cx="1645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231F20"/>
                </a:solidFill>
                <a:latin typeface="Arial"/>
              </a:rPr>
              <a:t>6. An OTP is…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280160" y="3291840"/>
            <a:ext cx="1609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5B6670"/>
                </a:solidFill>
                <a:latin typeface="Arial"/>
              </a:rPr>
              <a:t>a) A permanent password   b) A one-time code   c) A username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14400" y="3858768"/>
            <a:ext cx="1645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231F20"/>
                </a:solidFill>
                <a:latin typeface="Arial"/>
              </a:rPr>
              <a:t>7. Sharing your password is…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280160" y="4315968"/>
            <a:ext cx="1609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5B6670"/>
                </a:solidFill>
                <a:latin typeface="Arial"/>
              </a:rPr>
              <a:t>a) Fine with friends   b) A security mistake   c) Required for MFA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14400" y="4882896"/>
            <a:ext cx="1645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231F20"/>
                </a:solidFill>
                <a:latin typeface="Arial"/>
              </a:rPr>
              <a:t>8. ‘Continue with Google’ is an example of…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280160" y="5340096"/>
            <a:ext cx="1609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5B6670"/>
                </a:solidFill>
                <a:latin typeface="Arial"/>
              </a:rPr>
              <a:t>a) Social login   b) A magic link   c) Biometrics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14400" y="5907024"/>
            <a:ext cx="1645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231F20"/>
                </a:solidFill>
                <a:latin typeface="Arial"/>
              </a:rPr>
              <a:t>9. A 403 error usually means…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280160" y="6364224"/>
            <a:ext cx="1609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5B6670"/>
                </a:solidFill>
                <a:latin typeface="Arial"/>
              </a:rPr>
              <a:t>a) Page not found   b) Logged in but not allowed   c) Server is down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14400" y="6931152"/>
            <a:ext cx="1645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231F20"/>
                </a:solidFill>
                <a:latin typeface="Arial"/>
              </a:rPr>
              <a:t>10. Permissions are attached to…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280160" y="7388352"/>
            <a:ext cx="1609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5B6670"/>
                </a:solidFill>
                <a:latin typeface="Arial"/>
              </a:rPr>
              <a:t>a) The internet   b) Roles   c) The password box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/>
      <p:sp>
        <p:nvSpPr>
          <p:cNvPr id="100" name="Google Shape;100;p15"/>
          <p:cNvSpPr/>
          <p:nvPr/>
        </p:nvSpPr>
        <p:spPr>
          <a:xfrm flipH="1">
            <a:off x="15555324" y="-3181515"/>
            <a:ext cx="5235508" cy="4816668"/>
          </a:xfrm>
          <a:custGeom>
            <a:rect b="b" l="l" r="r" t="t"/>
            <a:pathLst>
              <a:path extrusionOk="0" h="4816668" w="5235508">
                <a:moveTo>
                  <a:pt x="5235508" y="0"/>
                </a:moveTo>
                <a:lnTo>
                  <a:pt x="0" y="0"/>
                </a:lnTo>
                <a:lnTo>
                  <a:pt x="0" y="4816668"/>
                </a:lnTo>
                <a:lnTo>
                  <a:pt x="5235508" y="4816668"/>
                </a:lnTo>
                <a:lnTo>
                  <a:pt x="5235508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5"/>
          <p:cNvSpPr/>
          <p:nvPr/>
        </p:nvSpPr>
        <p:spPr>
          <a:xfrm flipH="1" rot="10800000">
            <a:off x="-2629894" y="8208196"/>
            <a:ext cx="4804367" cy="4420017"/>
          </a:xfrm>
          <a:custGeom>
            <a:rect b="b" l="l" r="r" t="t"/>
            <a:pathLst>
              <a:path extrusionOk="0" h="4420017" w="4804367">
                <a:moveTo>
                  <a:pt x="0" y="4420017"/>
                </a:moveTo>
                <a:lnTo>
                  <a:pt x="4804367" y="4420017"/>
                </a:lnTo>
                <a:lnTo>
                  <a:pt x="4804367" y="0"/>
                </a:lnTo>
                <a:lnTo>
                  <a:pt x="0" y="0"/>
                </a:lnTo>
                <a:lnTo>
                  <a:pt x="0" y="4420017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15"/>
          <p:cNvSpPr/>
          <p:nvPr/>
        </p:nvSpPr>
        <p:spPr>
          <a:xfrm flipH="1">
            <a:off x="1831869" y="977232"/>
            <a:ext cx="3838597" cy="475026"/>
          </a:xfrm>
          <a:custGeom>
            <a:rect b="b" l="l" r="r" t="t"/>
            <a:pathLst>
              <a:path extrusionOk="0" h="475026" w="3838597">
                <a:moveTo>
                  <a:pt x="3838597" y="0"/>
                </a:moveTo>
                <a:lnTo>
                  <a:pt x="0" y="0"/>
                </a:lnTo>
                <a:lnTo>
                  <a:pt x="0" y="475027"/>
                </a:lnTo>
                <a:lnTo>
                  <a:pt x="3838597" y="475027"/>
                </a:lnTo>
                <a:lnTo>
                  <a:pt x="3838597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15"/>
          <p:cNvSpPr/>
          <p:nvPr/>
        </p:nvSpPr>
        <p:spPr>
          <a:xfrm>
            <a:off x="523496" y="161269"/>
            <a:ext cx="1650977" cy="1650977"/>
          </a:xfrm>
          <a:custGeom>
            <a:rect b="b" l="l" r="r" t="t"/>
            <a:pathLst>
              <a:path extrusionOk="0" h="1650977" w="1650977">
                <a:moveTo>
                  <a:pt x="0" y="0"/>
                </a:moveTo>
                <a:lnTo>
                  <a:pt x="1650977" y="0"/>
                </a:lnTo>
                <a:lnTo>
                  <a:pt x="1650977" y="1650977"/>
                </a:lnTo>
                <a:lnTo>
                  <a:pt x="0" y="16509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4" name="Google Shape;104;p15"/>
          <p:cNvCxnSpPr/>
          <p:nvPr/>
        </p:nvCxnSpPr>
        <p:spPr>
          <a:xfrm flipH="1" rot="10800000">
            <a:off x="221475" y="2940071"/>
            <a:ext cx="38100" cy="4571700"/>
          </a:xfrm>
          <a:prstGeom prst="straightConnector1">
            <a:avLst/>
          </a:prstGeom>
          <a:noFill/>
          <a:ln cap="flat" cmpd="sng" w="38100">
            <a:solidFill>
              <a:srgbClr val="0097B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5" name="Google Shape;105;p15"/>
          <p:cNvCxnSpPr/>
          <p:nvPr/>
        </p:nvCxnSpPr>
        <p:spPr>
          <a:xfrm flipH="1" rot="10800000">
            <a:off x="17998751" y="2940096"/>
            <a:ext cx="38100" cy="4571700"/>
          </a:xfrm>
          <a:prstGeom prst="straightConnector1">
            <a:avLst/>
          </a:prstGeom>
          <a:noFill/>
          <a:ln cap="flat" cmpd="sng" w="38100">
            <a:solidFill>
              <a:srgbClr val="0097B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06" name="TextBox 105"/>
          <p:cNvSpPr txBox="1"/>
          <p:nvPr/>
        </p:nvSpPr>
        <p:spPr>
          <a:xfrm>
            <a:off x="914400" y="1371599"/>
            <a:ext cx="1645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97B2"/>
                </a:solidFill>
                <a:latin typeface="Arial"/>
              </a:rPr>
              <a:t>QUIZ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4400" y="1874519"/>
            <a:ext cx="1645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 i="0">
                <a:solidFill>
                  <a:srgbClr val="231F20"/>
                </a:solidFill>
                <a:latin typeface="Arial"/>
              </a:rPr>
              <a:t>True / False  &amp;  Discussion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14400" y="283464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1" i="0">
                <a:solidFill>
                  <a:srgbClr val="0097B2"/>
                </a:solidFill>
                <a:latin typeface="Arial"/>
              </a:rPr>
              <a:t>True or False?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14400" y="3383280"/>
            <a:ext cx="78638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5000"/>
              </a:lnSpc>
              <a:spcAft>
                <a:spcPts val="1300"/>
              </a:spcAft>
              <a:buClr>
                <a:srgbClr val="0097B2"/>
              </a:buClr>
              <a:buSzPct val="90000"/>
              <a:buFont typeface="Arial"/>
              <a:buChar char="●"/>
            </a:pPr>
            <a:r>
              <a:rPr sz="1500">
                <a:solidFill>
                  <a:srgbClr val="231F20"/>
                </a:solidFill>
                <a:latin typeface="Arial"/>
              </a:rPr>
              <a:t>1. Authentication and authorization mean the same thing.</a:t>
            </a:r>
          </a:p>
          <a:p>
            <a:pPr marL="256032" indent="-256032">
              <a:lnSpc>
                <a:spcPct val="115000"/>
              </a:lnSpc>
              <a:spcAft>
                <a:spcPts val="1300"/>
              </a:spcAft>
              <a:buClr>
                <a:srgbClr val="0097B2"/>
              </a:buClr>
              <a:buSzPct val="90000"/>
              <a:buFont typeface="Arial"/>
              <a:buChar char="●"/>
            </a:pPr>
            <a:r>
              <a:rPr sz="1500">
                <a:solidFill>
                  <a:srgbClr val="231F20"/>
                </a:solidFill>
                <a:latin typeface="Arial"/>
              </a:rPr>
              <a:t>2. You should log out on shared computers.</a:t>
            </a:r>
          </a:p>
          <a:p>
            <a:pPr marL="256032" indent="-256032">
              <a:lnSpc>
                <a:spcPct val="115000"/>
              </a:lnSpc>
              <a:spcAft>
                <a:spcPts val="1300"/>
              </a:spcAft>
              <a:buClr>
                <a:srgbClr val="0097B2"/>
              </a:buClr>
              <a:buSzPct val="90000"/>
              <a:buFont typeface="Arial"/>
              <a:buChar char="●"/>
            </a:pPr>
            <a:r>
              <a:rPr sz="1500">
                <a:solidFill>
                  <a:srgbClr val="231F20"/>
                </a:solidFill>
                <a:latin typeface="Arial"/>
              </a:rPr>
              <a:t>3. Reusing one password everywhere is safe.</a:t>
            </a:r>
          </a:p>
          <a:p>
            <a:pPr marL="256032" indent="-256032">
              <a:lnSpc>
                <a:spcPct val="115000"/>
              </a:lnSpc>
              <a:spcAft>
                <a:spcPts val="1300"/>
              </a:spcAft>
              <a:buClr>
                <a:srgbClr val="0097B2"/>
              </a:buClr>
              <a:buSzPct val="90000"/>
              <a:buFont typeface="Arial"/>
              <a:buChar char="●"/>
            </a:pPr>
            <a:r>
              <a:rPr sz="1500">
                <a:solidFill>
                  <a:srgbClr val="231F20"/>
                </a:solidFill>
                <a:latin typeface="Arial"/>
              </a:rPr>
              <a:t>4. MFA adds a second proof of identity.</a:t>
            </a:r>
          </a:p>
          <a:p>
            <a:pPr marL="256032" indent="-256032">
              <a:lnSpc>
                <a:spcPct val="115000"/>
              </a:lnSpc>
              <a:spcAft>
                <a:spcPts val="1300"/>
              </a:spcAft>
              <a:buClr>
                <a:srgbClr val="0097B2"/>
              </a:buClr>
              <a:buSzPct val="90000"/>
              <a:buFont typeface="Arial"/>
              <a:buChar char="●"/>
            </a:pPr>
            <a:r>
              <a:rPr sz="1500">
                <a:solidFill>
                  <a:srgbClr val="231F20"/>
                </a:solidFill>
                <a:latin typeface="Arial"/>
              </a:rPr>
              <a:t>5. Everyone in an app should be an admin.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509760" y="28346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Arial"/>
              </a:rPr>
              <a:t>Discuss together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509760" y="3383280"/>
            <a:ext cx="69494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5000"/>
              </a:lnSpc>
              <a:spcAft>
                <a:spcPts val="1300"/>
              </a:spcAft>
              <a:buClr>
                <a:srgbClr val="1B2A4A"/>
              </a:buClr>
              <a:buSzPct val="90000"/>
              <a:buFont typeface="Arial"/>
              <a:buChar char="●"/>
            </a:pPr>
            <a:r>
              <a:rPr sz="1500">
                <a:solidFill>
                  <a:srgbClr val="231F20"/>
                </a:solidFill>
                <a:latin typeface="Arial"/>
              </a:rPr>
              <a:t>Where have you met authentication this week?</a:t>
            </a:r>
          </a:p>
          <a:p>
            <a:pPr marL="256032" indent="-256032">
              <a:lnSpc>
                <a:spcPct val="115000"/>
              </a:lnSpc>
              <a:spcAft>
                <a:spcPts val="1300"/>
              </a:spcAft>
              <a:buClr>
                <a:srgbClr val="1B2A4A"/>
              </a:buClr>
              <a:buSzPct val="90000"/>
              <a:buFont typeface="Arial"/>
              <a:buChar char="●"/>
            </a:pPr>
            <a:r>
              <a:rPr sz="1500">
                <a:solidFill>
                  <a:srgbClr val="231F20"/>
                </a:solidFill>
                <a:latin typeface="Arial"/>
              </a:rPr>
              <a:t>Why give a teacher more rights than a student?</a:t>
            </a:r>
          </a:p>
          <a:p>
            <a:pPr marL="256032" indent="-256032">
              <a:lnSpc>
                <a:spcPct val="115000"/>
              </a:lnSpc>
              <a:spcAft>
                <a:spcPts val="1300"/>
              </a:spcAft>
              <a:buClr>
                <a:srgbClr val="1B2A4A"/>
              </a:buClr>
              <a:buSzPct val="90000"/>
              <a:buFont typeface="Arial"/>
              <a:buChar char="●"/>
            </a:pPr>
            <a:r>
              <a:rPr sz="1500">
                <a:solidFill>
                  <a:srgbClr val="231F20"/>
                </a:solidFill>
                <a:latin typeface="Arial"/>
              </a:rPr>
              <a:t>What could go wrong if everyone were admin?</a:t>
            </a:r>
          </a:p>
          <a:p>
            <a:pPr marL="256032" indent="-256032">
              <a:lnSpc>
                <a:spcPct val="115000"/>
              </a:lnSpc>
              <a:spcAft>
                <a:spcPts val="1300"/>
              </a:spcAft>
              <a:buClr>
                <a:srgbClr val="1B2A4A"/>
              </a:buClr>
              <a:buSzPct val="90000"/>
              <a:buFont typeface="Arial"/>
              <a:buChar char="●"/>
            </a:pPr>
            <a:r>
              <a:rPr sz="1500">
                <a:solidFill>
                  <a:srgbClr val="231F20"/>
                </a:solidFill>
                <a:latin typeface="Arial"/>
              </a:rPr>
              <a:t>Is a fingerprint safer than a password? Why?</a:t>
            </a:r>
          </a:p>
          <a:p>
            <a:pPr marL="256032" indent="-256032">
              <a:lnSpc>
                <a:spcPct val="115000"/>
              </a:lnSpc>
              <a:spcAft>
                <a:spcPts val="1300"/>
              </a:spcAft>
              <a:buClr>
                <a:srgbClr val="1B2A4A"/>
              </a:buClr>
              <a:buSzPct val="90000"/>
              <a:buFont typeface="Arial"/>
              <a:buChar char="●"/>
            </a:pPr>
            <a:r>
              <a:rPr sz="1500">
                <a:solidFill>
                  <a:srgbClr val="231F20"/>
                </a:solidFill>
                <a:latin typeface="Arial"/>
              </a:rPr>
              <a:t>How would you explain MFA to your grandparent?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